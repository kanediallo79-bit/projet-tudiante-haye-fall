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9A7"/>
          </a:solidFill>
          <a:ln w="12700">
            <a:solidFill>
              <a:srgbClr val="00C9A7"/>
            </a:solidFill>
            <a:prstDash val="solid"/>
          </a:ln>
        </p:spPr>
      </p:sp>
      <p:sp>
        <p:nvSpPr>
          <p:cNvPr id="3" name="Shape 1"/>
          <p:cNvSpPr/>
          <p:nvPr/>
        </p:nvSpPr>
        <p:spPr>
          <a:xfrm>
            <a:off x="3931920" y="457200"/>
            <a:ext cx="1280160" cy="731520"/>
          </a:xfrm>
          <a:prstGeom prst="roundRect">
            <a:avLst>
              <a:gd name="adj" fmla="val 37500"/>
            </a:avLst>
          </a:prstGeom>
          <a:solidFill>
            <a:srgbClr val="0D6EFD">
              <a:alpha val="70000"/>
            </a:srgbClr>
          </a:solidFill>
          <a:ln w="12700">
            <a:solidFill>
              <a:srgbClr val="0D6EFD"/>
            </a:solidFill>
            <a:prstDash val="solid"/>
          </a:ln>
        </p:spPr>
      </p:sp>
      <p:sp>
        <p:nvSpPr>
          <p:cNvPr id="4" name="Text 2"/>
          <p:cNvSpPr/>
          <p:nvPr/>
        </p:nvSpPr>
        <p:spPr>
          <a:xfrm>
            <a:off x="3931920" y="438912"/>
            <a:ext cx="1280160" cy="777240"/>
          </a:xfrm>
          <a:prstGeom prst="rect">
            <a:avLst/>
          </a:prstGeom>
          <a:noFill/>
        </p:spPr>
        <p:txBody>
          <a:bodyPr wrap="square" rtlCol="0" anchor="ctr"/>
          <a:lstStyle/>
          <a:p>
            <a:pPr marL="0" indent="0" algn="ctr">
              <a:buNone/>
            </a:pPr>
            <a:r>
              <a:rPr lang="en-US" sz="2800" dirty="0">
                <a:solidFill>
                  <a:srgbClr val="FFFFFF"/>
                </a:solidFill>
              </a:rPr>
              <a:t>☁</a:t>
            </a:r>
            <a:endParaRPr lang="en-US" sz="2800" dirty="0"/>
          </a:p>
        </p:txBody>
      </p:sp>
      <p:sp>
        <p:nvSpPr>
          <p:cNvPr id="5" name="Text 3"/>
          <p:cNvSpPr/>
          <p:nvPr/>
        </p:nvSpPr>
        <p:spPr>
          <a:xfrm>
            <a:off x="457200" y="1371600"/>
            <a:ext cx="8229600" cy="914400"/>
          </a:xfrm>
          <a:prstGeom prst="rect">
            <a:avLst/>
          </a:prstGeom>
          <a:noFill/>
        </p:spPr>
        <p:txBody>
          <a:bodyPr wrap="square" rtlCol="0" anchor="ctr"/>
          <a:lstStyle/>
          <a:p>
            <a:pPr marL="0" indent="0" algn="ctr">
              <a:buNone/>
            </a:pPr>
            <a:r>
              <a:rPr lang="en-US" sz="3800" b="1" dirty="0">
                <a:solidFill>
                  <a:srgbClr val="FFFFFF"/>
                </a:solidFill>
                <a:latin typeface="Calibri" panose="020F0502020204030204" pitchFamily="34" charset="0"/>
                <a:ea typeface="Calibri" panose="020F0502020204030204" pitchFamily="34" charset="-122"/>
                <a:cs typeface="Calibri" panose="020F0502020204030204" pitchFamily="34" charset="-120"/>
              </a:rPr>
              <a:t>Surveillance des Activités AWS</a:t>
            </a:r>
            <a:endParaRPr lang="en-US" sz="3800" dirty="0"/>
          </a:p>
        </p:txBody>
      </p:sp>
      <p:sp>
        <p:nvSpPr>
          <p:cNvPr id="6" name="Text 4"/>
          <p:cNvSpPr/>
          <p:nvPr/>
        </p:nvSpPr>
        <p:spPr>
          <a:xfrm>
            <a:off x="457200" y="2377440"/>
            <a:ext cx="8229600" cy="457200"/>
          </a:xfrm>
          <a:prstGeom prst="rect">
            <a:avLst/>
          </a:prstGeom>
          <a:noFill/>
        </p:spPr>
        <p:txBody>
          <a:bodyPr wrap="square" rtlCol="0" anchor="ctr"/>
          <a:lstStyle/>
          <a:p>
            <a:pPr marL="0" indent="0" algn="ctr">
              <a:buNone/>
            </a:pPr>
            <a:r>
              <a:rPr lang="en-US" sz="1800" dirty="0">
                <a:solidFill>
                  <a:srgbClr val="00C9A7"/>
                </a:solidFill>
                <a:latin typeface="Calibri" panose="020F0502020204030204" pitchFamily="34" charset="0"/>
                <a:ea typeface="Calibri" panose="020F0502020204030204" pitchFamily="34" charset="-122"/>
                <a:cs typeface="Calibri" panose="020F0502020204030204" pitchFamily="34" charset="-120"/>
              </a:rPr>
              <a:t>Amazon CloudWatch — Monitoring, Journaux &amp; Alertes</a:t>
            </a:r>
            <a:endParaRPr lang="en-US" sz="1800" dirty="0"/>
          </a:p>
        </p:txBody>
      </p:sp>
      <p:sp>
        <p:nvSpPr>
          <p:cNvPr id="7" name="Shape 5"/>
          <p:cNvSpPr/>
          <p:nvPr/>
        </p:nvSpPr>
        <p:spPr>
          <a:xfrm>
            <a:off x="3200400" y="2971800"/>
            <a:ext cx="2743200" cy="36576"/>
          </a:xfrm>
          <a:prstGeom prst="rect">
            <a:avLst/>
          </a:prstGeom>
          <a:solidFill>
            <a:srgbClr val="0D6EFD"/>
          </a:solidFill>
          <a:ln w="12700">
            <a:solidFill>
              <a:srgbClr val="0D6EFD"/>
            </a:solidFill>
            <a:prstDash val="solid"/>
          </a:ln>
        </p:spPr>
      </p:sp>
      <p:sp>
        <p:nvSpPr>
          <p:cNvPr id="8" name="Shape 6"/>
          <p:cNvSpPr/>
          <p:nvPr/>
        </p:nvSpPr>
        <p:spPr>
          <a:xfrm>
            <a:off x="2286000" y="3200400"/>
            <a:ext cx="4572000" cy="1463040"/>
          </a:xfrm>
          <a:prstGeom prst="rect">
            <a:avLst/>
          </a:prstGeom>
          <a:solidFill>
            <a:srgbClr val="112240"/>
          </a:solidFill>
          <a:ln w="12700">
            <a:solidFill>
              <a:srgbClr val="0D6EFD"/>
            </a:solidFill>
            <a:prstDash val="solid"/>
          </a:ln>
        </p:spPr>
      </p:sp>
      <p:sp>
        <p:nvSpPr>
          <p:cNvPr id="9" name="Text 7"/>
          <p:cNvSpPr/>
          <p:nvPr/>
        </p:nvSpPr>
        <p:spPr>
          <a:xfrm>
            <a:off x="2286000" y="3200400"/>
            <a:ext cx="4572000" cy="1463040"/>
          </a:xfrm>
          <a:prstGeom prst="rect">
            <a:avLst/>
          </a:prstGeom>
          <a:noFill/>
        </p:spPr>
        <p:txBody>
          <a:bodyPr wrap="square" rtlCol="0" anchor="ctr"/>
          <a:lstStyle/>
          <a:p>
            <a:pPr marL="0" indent="0" algn="ctr">
              <a:buNone/>
            </a:pPr>
            <a:r>
              <a:rPr lang="en-US" sz="1400" b="1" dirty="0">
                <a:solidFill>
                  <a:srgbClr val="00C9A7"/>
                </a:solidFill>
                <a:latin typeface="Calibri" panose="020F0502020204030204" pitchFamily="34" charset="0"/>
                <a:ea typeface="Calibri" panose="020F0502020204030204" pitchFamily="34" charset="-122"/>
                <a:cs typeface="Calibri" panose="020F0502020204030204" pitchFamily="34" charset="-120"/>
              </a:rPr>
              <a:t>Étudiant : </a:t>
            </a: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Haye Fall</a:t>
            </a:r>
            <a:endParaRPr lang="en-US" sz="1400" dirty="0"/>
          </a:p>
          <a:p>
            <a:pPr marL="0" indent="0" algn="ctr">
              <a:buNone/>
            </a:pPr>
            <a:r>
              <a:rPr lang="en-US" sz="1400" b="1" dirty="0">
                <a:solidFill>
                  <a:srgbClr val="00C9A7"/>
                </a:solidFill>
                <a:latin typeface="Calibri" panose="020F0502020204030204" pitchFamily="34" charset="0"/>
                <a:ea typeface="Calibri" panose="020F0502020204030204" pitchFamily="34" charset="-122"/>
                <a:cs typeface="Calibri" panose="020F0502020204030204" pitchFamily="34" charset="-120"/>
              </a:rPr>
              <a:t>Professeur : </a:t>
            </a:r>
            <a:endParaRPr lang="en-US" sz="1400" dirty="0"/>
          </a:p>
          <a:p>
            <a:pPr marL="0" indent="0" algn="ctr">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Mr Cissé</a:t>
            </a:r>
            <a:endParaRPr lang="en-US" sz="1400" dirty="0"/>
          </a:p>
          <a:p>
            <a:pPr marL="0" indent="0" algn="ctr">
              <a:buNone/>
            </a:pPr>
            <a:r>
              <a:rPr lang="en-US" sz="1400" b="1" dirty="0">
                <a:solidFill>
                  <a:srgbClr val="00C9A7"/>
                </a:solidFill>
                <a:latin typeface="Calibri" panose="020F0502020204030204" pitchFamily="34" charset="0"/>
                <a:ea typeface="Calibri" panose="020F0502020204030204" pitchFamily="34" charset="-122"/>
                <a:cs typeface="Calibri" panose="020F0502020204030204" pitchFamily="34" charset="-120"/>
              </a:rPr>
              <a:t>Classe : </a:t>
            </a:r>
            <a:endParaRPr lang="en-US" sz="1400" dirty="0"/>
          </a:p>
          <a:p>
            <a:pPr marL="0" indent="0" algn="ctr">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LICC2  |  École : BEM.ECH</a:t>
            </a:r>
            <a:endParaRPr lang="en-US" sz="1400" dirty="0"/>
          </a:p>
        </p:txBody>
      </p:sp>
      <p:sp>
        <p:nvSpPr>
          <p:cNvPr id="10" name="Shape 8"/>
          <p:cNvSpPr/>
          <p:nvPr/>
        </p:nvSpPr>
        <p:spPr>
          <a:xfrm>
            <a:off x="0" y="5074920"/>
            <a:ext cx="9144000" cy="68580"/>
          </a:xfrm>
          <a:prstGeom prst="rect">
            <a:avLst/>
          </a:prstGeom>
          <a:solidFill>
            <a:srgbClr val="0D6EFD"/>
          </a:solidFill>
          <a:ln w="12700">
            <a:solidFill>
              <a:srgbClr val="0D6EFD"/>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6EFD"/>
          </a:solidFill>
          <a:ln w="12700">
            <a:solidFill>
              <a:srgbClr val="0D6EFD"/>
            </a:solidFill>
            <a:prstDash val="solid"/>
          </a:ln>
        </p:spPr>
      </p:sp>
      <p:sp>
        <p:nvSpPr>
          <p:cNvPr id="3" name="Text 1"/>
          <p:cNvSpPr/>
          <p:nvPr/>
        </p:nvSpPr>
        <p:spPr>
          <a:xfrm>
            <a:off x="365760" y="182880"/>
            <a:ext cx="8229600" cy="640080"/>
          </a:xfrm>
          <a:prstGeom prst="rect">
            <a:avLst/>
          </a:prstGeom>
          <a:noFill/>
        </p:spPr>
        <p:txBody>
          <a:bodyPr wrap="square" rtlCol="0" anchor="ctr"/>
          <a:lstStyle/>
          <a:p>
            <a:pPr marL="0" indent="0">
              <a:buNone/>
            </a:pPr>
            <a:r>
              <a:rPr lang="en-US" sz="3000" b="1" dirty="0">
                <a:solidFill>
                  <a:srgbClr val="0A1628"/>
                </a:solidFill>
                <a:latin typeface="Calibri" panose="020F0502020204030204" pitchFamily="34" charset="0"/>
                <a:ea typeface="Calibri" panose="020F0502020204030204" pitchFamily="34" charset="-122"/>
                <a:cs typeface="Calibri" panose="020F0502020204030204" pitchFamily="34" charset="-120"/>
              </a:rPr>
              <a:t>Sommaire</a:t>
            </a:r>
            <a:endParaRPr lang="en-US" sz="3000" dirty="0"/>
          </a:p>
        </p:txBody>
      </p:sp>
      <p:sp>
        <p:nvSpPr>
          <p:cNvPr id="4" name="Shape 2"/>
          <p:cNvSpPr/>
          <p:nvPr/>
        </p:nvSpPr>
        <p:spPr>
          <a:xfrm>
            <a:off x="365760" y="960120"/>
            <a:ext cx="411480" cy="384048"/>
          </a:xfrm>
          <a:prstGeom prst="rect">
            <a:avLst/>
          </a:prstGeom>
          <a:solidFill>
            <a:srgbClr val="0D6EFD"/>
          </a:solidFill>
          <a:ln w="12700">
            <a:solidFill>
              <a:srgbClr val="0D6EFD"/>
            </a:solidFill>
            <a:prstDash val="solid"/>
          </a:ln>
        </p:spPr>
      </p:sp>
      <p:sp>
        <p:nvSpPr>
          <p:cNvPr id="5" name="Text 3"/>
          <p:cNvSpPr/>
          <p:nvPr/>
        </p:nvSpPr>
        <p:spPr>
          <a:xfrm>
            <a:off x="365760" y="960120"/>
            <a:ext cx="411480" cy="384048"/>
          </a:xfrm>
          <a:prstGeom prst="rect">
            <a:avLst/>
          </a:prstGeom>
          <a:noFill/>
        </p:spPr>
        <p:txBody>
          <a:bodyPr wrap="square" rtlCol="0" anchor="ctr"/>
          <a:lstStyle/>
          <a:p>
            <a:pPr marL="0" indent="0" algn="ctr">
              <a:buNone/>
            </a:pPr>
            <a:r>
              <a:rPr lang="en-US" sz="1200" b="1" dirty="0">
                <a:solidFill>
                  <a:srgbClr val="FFFFFF"/>
                </a:solidFill>
              </a:rPr>
              <a:t>01</a:t>
            </a:r>
            <a:endParaRPr lang="en-US" sz="1200" dirty="0"/>
          </a:p>
        </p:txBody>
      </p:sp>
      <p:sp>
        <p:nvSpPr>
          <p:cNvPr id="6" name="Text 4"/>
          <p:cNvSpPr/>
          <p:nvPr/>
        </p:nvSpPr>
        <p:spPr>
          <a:xfrm>
            <a:off x="914400" y="960120"/>
            <a:ext cx="5029200" cy="219456"/>
          </a:xfrm>
          <a:prstGeom prst="rect">
            <a:avLst/>
          </a:prstGeom>
          <a:noFill/>
        </p:spPr>
        <p:txBody>
          <a:bodyPr wrap="square" lIns="0" tIns="0" rIns="0" bIns="0" rtlCol="0" anchor="ctr"/>
          <a:lstStyle/>
          <a:p>
            <a:pPr marL="0" indent="0">
              <a:buNone/>
            </a:pPr>
            <a:r>
              <a:rPr lang="en-US" sz="1300" b="1" dirty="0">
                <a:solidFill>
                  <a:srgbClr val="0A1628"/>
                </a:solidFill>
                <a:latin typeface="Calibri" panose="020F0502020204030204" pitchFamily="34" charset="0"/>
                <a:ea typeface="Calibri" panose="020F0502020204030204" pitchFamily="34" charset="-122"/>
                <a:cs typeface="Calibri" panose="020F0502020204030204" pitchFamily="34" charset="-120"/>
              </a:rPr>
              <a:t>Introduction à AWS CloudWatch</a:t>
            </a:r>
            <a:endParaRPr lang="en-US" sz="1300" dirty="0"/>
          </a:p>
        </p:txBody>
      </p:sp>
      <p:sp>
        <p:nvSpPr>
          <p:cNvPr id="7" name="Text 5"/>
          <p:cNvSpPr/>
          <p:nvPr/>
        </p:nvSpPr>
        <p:spPr>
          <a:xfrm>
            <a:off x="914400" y="1161288"/>
            <a:ext cx="5029200" cy="182880"/>
          </a:xfrm>
          <a:prstGeom prst="rect">
            <a:avLst/>
          </a:prstGeom>
          <a:noFill/>
        </p:spPr>
        <p:txBody>
          <a:bodyPr wrap="square" lIns="0" tIns="0" rIns="0" bIns="0" rtlCol="0" anchor="ctr"/>
          <a:lstStyle/>
          <a:p>
            <a:pPr marL="0" indent="0">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Présentation du service de surveillance AWS</a:t>
            </a:r>
            <a:endParaRPr lang="en-US" sz="1000" dirty="0"/>
          </a:p>
        </p:txBody>
      </p:sp>
      <p:sp>
        <p:nvSpPr>
          <p:cNvPr id="8" name="Shape 6"/>
          <p:cNvSpPr/>
          <p:nvPr/>
        </p:nvSpPr>
        <p:spPr>
          <a:xfrm>
            <a:off x="365760" y="1380744"/>
            <a:ext cx="8503920" cy="0"/>
          </a:xfrm>
          <a:prstGeom prst="line">
            <a:avLst/>
          </a:prstGeom>
          <a:noFill/>
          <a:ln w="6350">
            <a:solidFill>
              <a:srgbClr val="D1D5DB"/>
            </a:solidFill>
            <a:prstDash val="solid"/>
          </a:ln>
        </p:spPr>
      </p:sp>
      <p:sp>
        <p:nvSpPr>
          <p:cNvPr id="9" name="Shape 7"/>
          <p:cNvSpPr/>
          <p:nvPr/>
        </p:nvSpPr>
        <p:spPr>
          <a:xfrm>
            <a:off x="365760" y="1545336"/>
            <a:ext cx="411480" cy="384048"/>
          </a:xfrm>
          <a:prstGeom prst="rect">
            <a:avLst/>
          </a:prstGeom>
          <a:solidFill>
            <a:srgbClr val="0D6EFD"/>
          </a:solidFill>
          <a:ln w="12700">
            <a:solidFill>
              <a:srgbClr val="0D6EFD"/>
            </a:solidFill>
            <a:prstDash val="solid"/>
          </a:ln>
        </p:spPr>
      </p:sp>
      <p:sp>
        <p:nvSpPr>
          <p:cNvPr id="10" name="Text 8"/>
          <p:cNvSpPr/>
          <p:nvPr/>
        </p:nvSpPr>
        <p:spPr>
          <a:xfrm>
            <a:off x="365760" y="1545336"/>
            <a:ext cx="411480" cy="384048"/>
          </a:xfrm>
          <a:prstGeom prst="rect">
            <a:avLst/>
          </a:prstGeom>
          <a:noFill/>
        </p:spPr>
        <p:txBody>
          <a:bodyPr wrap="square" rtlCol="0" anchor="ctr"/>
          <a:lstStyle/>
          <a:p>
            <a:pPr marL="0" indent="0" algn="ctr">
              <a:buNone/>
            </a:pPr>
            <a:r>
              <a:rPr lang="en-US" sz="1200" b="1" dirty="0">
                <a:solidFill>
                  <a:srgbClr val="FFFFFF"/>
                </a:solidFill>
              </a:rPr>
              <a:t>02</a:t>
            </a:r>
            <a:endParaRPr lang="en-US" sz="1200" dirty="0"/>
          </a:p>
        </p:txBody>
      </p:sp>
      <p:sp>
        <p:nvSpPr>
          <p:cNvPr id="11" name="Text 9"/>
          <p:cNvSpPr/>
          <p:nvPr/>
        </p:nvSpPr>
        <p:spPr>
          <a:xfrm>
            <a:off x="914400" y="1545336"/>
            <a:ext cx="5029200" cy="219456"/>
          </a:xfrm>
          <a:prstGeom prst="rect">
            <a:avLst/>
          </a:prstGeom>
          <a:noFill/>
        </p:spPr>
        <p:txBody>
          <a:bodyPr wrap="square" lIns="0" tIns="0" rIns="0" bIns="0" rtlCol="0" anchor="ctr"/>
          <a:lstStyle/>
          <a:p>
            <a:pPr marL="0" indent="0">
              <a:buNone/>
            </a:pPr>
            <a:r>
              <a:rPr lang="en-US" sz="1300" b="1" dirty="0">
                <a:solidFill>
                  <a:srgbClr val="0A1628"/>
                </a:solidFill>
                <a:latin typeface="Calibri" panose="020F0502020204030204" pitchFamily="34" charset="0"/>
                <a:ea typeface="Calibri" panose="020F0502020204030204" pitchFamily="34" charset="-122"/>
                <a:cs typeface="Calibri" panose="020F0502020204030204" pitchFamily="34" charset="-120"/>
              </a:rPr>
              <a:t>Tableau de bord CloudWatch</a:t>
            </a:r>
            <a:endParaRPr lang="en-US" sz="1300" dirty="0"/>
          </a:p>
        </p:txBody>
      </p:sp>
      <p:sp>
        <p:nvSpPr>
          <p:cNvPr id="12" name="Text 10"/>
          <p:cNvSpPr/>
          <p:nvPr/>
        </p:nvSpPr>
        <p:spPr>
          <a:xfrm>
            <a:off x="914400" y="1746504"/>
            <a:ext cx="5029200" cy="182880"/>
          </a:xfrm>
          <a:prstGeom prst="rect">
            <a:avLst/>
          </a:prstGeom>
          <a:noFill/>
        </p:spPr>
        <p:txBody>
          <a:bodyPr wrap="square" lIns="0" tIns="0" rIns="0" bIns="0" rtlCol="0" anchor="ctr"/>
          <a:lstStyle/>
          <a:p>
            <a:pPr marL="0" indent="0">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Vue d'ensemble de l'interface et des fonctionnalités</a:t>
            </a:r>
            <a:endParaRPr lang="en-US" sz="1000" dirty="0"/>
          </a:p>
        </p:txBody>
      </p:sp>
      <p:sp>
        <p:nvSpPr>
          <p:cNvPr id="13" name="Shape 11"/>
          <p:cNvSpPr/>
          <p:nvPr/>
        </p:nvSpPr>
        <p:spPr>
          <a:xfrm>
            <a:off x="365760" y="1965960"/>
            <a:ext cx="8503920" cy="0"/>
          </a:xfrm>
          <a:prstGeom prst="line">
            <a:avLst/>
          </a:prstGeom>
          <a:noFill/>
          <a:ln w="6350">
            <a:solidFill>
              <a:srgbClr val="D1D5DB"/>
            </a:solidFill>
            <a:prstDash val="solid"/>
          </a:ln>
        </p:spPr>
      </p:sp>
      <p:sp>
        <p:nvSpPr>
          <p:cNvPr id="14" name="Shape 12"/>
          <p:cNvSpPr/>
          <p:nvPr/>
        </p:nvSpPr>
        <p:spPr>
          <a:xfrm>
            <a:off x="365760" y="2130552"/>
            <a:ext cx="411480" cy="384048"/>
          </a:xfrm>
          <a:prstGeom prst="rect">
            <a:avLst/>
          </a:prstGeom>
          <a:solidFill>
            <a:srgbClr val="0D6EFD"/>
          </a:solidFill>
          <a:ln w="12700">
            <a:solidFill>
              <a:srgbClr val="0D6EFD"/>
            </a:solidFill>
            <a:prstDash val="solid"/>
          </a:ln>
        </p:spPr>
      </p:sp>
      <p:sp>
        <p:nvSpPr>
          <p:cNvPr id="15" name="Text 13"/>
          <p:cNvSpPr/>
          <p:nvPr/>
        </p:nvSpPr>
        <p:spPr>
          <a:xfrm>
            <a:off x="365760" y="2130552"/>
            <a:ext cx="411480" cy="384048"/>
          </a:xfrm>
          <a:prstGeom prst="rect">
            <a:avLst/>
          </a:prstGeom>
          <a:noFill/>
        </p:spPr>
        <p:txBody>
          <a:bodyPr wrap="square" rtlCol="0" anchor="ctr"/>
          <a:lstStyle/>
          <a:p>
            <a:pPr marL="0" indent="0" algn="ctr">
              <a:buNone/>
            </a:pPr>
            <a:r>
              <a:rPr lang="en-US" sz="1200" b="1" dirty="0">
                <a:solidFill>
                  <a:srgbClr val="FFFFFF"/>
                </a:solidFill>
              </a:rPr>
              <a:t>03</a:t>
            </a:r>
            <a:endParaRPr lang="en-US" sz="1200" dirty="0"/>
          </a:p>
        </p:txBody>
      </p:sp>
      <p:sp>
        <p:nvSpPr>
          <p:cNvPr id="16" name="Text 14"/>
          <p:cNvSpPr/>
          <p:nvPr/>
        </p:nvSpPr>
        <p:spPr>
          <a:xfrm>
            <a:off x="914400" y="2130552"/>
            <a:ext cx="5029200" cy="219456"/>
          </a:xfrm>
          <a:prstGeom prst="rect">
            <a:avLst/>
          </a:prstGeom>
          <a:noFill/>
        </p:spPr>
        <p:txBody>
          <a:bodyPr wrap="square" lIns="0" tIns="0" rIns="0" bIns="0" rtlCol="0" anchor="ctr"/>
          <a:lstStyle/>
          <a:p>
            <a:pPr marL="0" indent="0">
              <a:buNone/>
            </a:pPr>
            <a:r>
              <a:rPr lang="en-US" sz="1300" b="1" dirty="0">
                <a:solidFill>
                  <a:srgbClr val="0A1628"/>
                </a:solidFill>
                <a:latin typeface="Calibri" panose="020F0502020204030204" pitchFamily="34" charset="0"/>
                <a:ea typeface="Calibri" panose="020F0502020204030204" pitchFamily="34" charset="-122"/>
                <a:cs typeface="Calibri" panose="020F0502020204030204" pitchFamily="34" charset="-120"/>
              </a:rPr>
              <a:t>Gestion des Journaux (Logs)</a:t>
            </a:r>
            <a:endParaRPr lang="en-US" sz="1300" dirty="0"/>
          </a:p>
        </p:txBody>
      </p:sp>
      <p:sp>
        <p:nvSpPr>
          <p:cNvPr id="17" name="Text 15"/>
          <p:cNvSpPr/>
          <p:nvPr/>
        </p:nvSpPr>
        <p:spPr>
          <a:xfrm>
            <a:off x="914400" y="2331720"/>
            <a:ext cx="5029200" cy="182880"/>
          </a:xfrm>
          <a:prstGeom prst="rect">
            <a:avLst/>
          </a:prstGeom>
          <a:noFill/>
        </p:spPr>
        <p:txBody>
          <a:bodyPr wrap="square" lIns="0" tIns="0" rIns="0" bIns="0" rtlCol="0" anchor="ctr"/>
          <a:lstStyle/>
          <a:p>
            <a:pPr marL="0" indent="0">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Groupes de journaux, flux et analyse</a:t>
            </a:r>
            <a:endParaRPr lang="en-US" sz="1000" dirty="0"/>
          </a:p>
        </p:txBody>
      </p:sp>
      <p:sp>
        <p:nvSpPr>
          <p:cNvPr id="18" name="Shape 16"/>
          <p:cNvSpPr/>
          <p:nvPr/>
        </p:nvSpPr>
        <p:spPr>
          <a:xfrm>
            <a:off x="365760" y="2551176"/>
            <a:ext cx="8503920" cy="0"/>
          </a:xfrm>
          <a:prstGeom prst="line">
            <a:avLst/>
          </a:prstGeom>
          <a:noFill/>
          <a:ln w="6350">
            <a:solidFill>
              <a:srgbClr val="D1D5DB"/>
            </a:solidFill>
            <a:prstDash val="solid"/>
          </a:ln>
        </p:spPr>
      </p:sp>
      <p:sp>
        <p:nvSpPr>
          <p:cNvPr id="19" name="Shape 17"/>
          <p:cNvSpPr/>
          <p:nvPr/>
        </p:nvSpPr>
        <p:spPr>
          <a:xfrm>
            <a:off x="365760" y="2715768"/>
            <a:ext cx="411480" cy="384048"/>
          </a:xfrm>
          <a:prstGeom prst="rect">
            <a:avLst/>
          </a:prstGeom>
          <a:solidFill>
            <a:srgbClr val="0D6EFD"/>
          </a:solidFill>
          <a:ln w="12700">
            <a:solidFill>
              <a:srgbClr val="0D6EFD"/>
            </a:solidFill>
            <a:prstDash val="solid"/>
          </a:ln>
        </p:spPr>
      </p:sp>
      <p:sp>
        <p:nvSpPr>
          <p:cNvPr id="20" name="Text 18"/>
          <p:cNvSpPr/>
          <p:nvPr/>
        </p:nvSpPr>
        <p:spPr>
          <a:xfrm>
            <a:off x="365760" y="2715768"/>
            <a:ext cx="411480" cy="384048"/>
          </a:xfrm>
          <a:prstGeom prst="rect">
            <a:avLst/>
          </a:prstGeom>
          <a:noFill/>
        </p:spPr>
        <p:txBody>
          <a:bodyPr wrap="square" rtlCol="0" anchor="ctr"/>
          <a:lstStyle/>
          <a:p>
            <a:pPr marL="0" indent="0" algn="ctr">
              <a:buNone/>
            </a:pPr>
            <a:r>
              <a:rPr lang="en-US" sz="1200" b="1" dirty="0">
                <a:solidFill>
                  <a:srgbClr val="FFFFFF"/>
                </a:solidFill>
              </a:rPr>
              <a:t>04</a:t>
            </a:r>
            <a:endParaRPr lang="en-US" sz="1200" dirty="0"/>
          </a:p>
        </p:txBody>
      </p:sp>
      <p:sp>
        <p:nvSpPr>
          <p:cNvPr id="21" name="Text 19"/>
          <p:cNvSpPr/>
          <p:nvPr/>
        </p:nvSpPr>
        <p:spPr>
          <a:xfrm>
            <a:off x="914400" y="2715768"/>
            <a:ext cx="5029200" cy="219456"/>
          </a:xfrm>
          <a:prstGeom prst="rect">
            <a:avLst/>
          </a:prstGeom>
          <a:noFill/>
        </p:spPr>
        <p:txBody>
          <a:bodyPr wrap="square" lIns="0" tIns="0" rIns="0" bIns="0" rtlCol="0" anchor="ctr"/>
          <a:lstStyle/>
          <a:p>
            <a:pPr marL="0" indent="0">
              <a:buNone/>
            </a:pPr>
            <a:r>
              <a:rPr lang="en-US" sz="1300" b="1" dirty="0">
                <a:solidFill>
                  <a:srgbClr val="0A1628"/>
                </a:solidFill>
                <a:latin typeface="Calibri" panose="020F0502020204030204" pitchFamily="34" charset="0"/>
                <a:ea typeface="Calibri" panose="020F0502020204030204" pitchFamily="34" charset="-122"/>
                <a:cs typeface="Calibri" panose="020F0502020204030204" pitchFamily="34" charset="-120"/>
              </a:rPr>
              <a:t>Filtres de Métriques</a:t>
            </a:r>
            <a:endParaRPr lang="en-US" sz="1300" dirty="0"/>
          </a:p>
        </p:txBody>
      </p:sp>
      <p:sp>
        <p:nvSpPr>
          <p:cNvPr id="22" name="Text 20"/>
          <p:cNvSpPr/>
          <p:nvPr/>
        </p:nvSpPr>
        <p:spPr>
          <a:xfrm>
            <a:off x="914400" y="2916936"/>
            <a:ext cx="5029200" cy="182880"/>
          </a:xfrm>
          <a:prstGeom prst="rect">
            <a:avLst/>
          </a:prstGeom>
          <a:noFill/>
        </p:spPr>
        <p:txBody>
          <a:bodyPr wrap="square" lIns="0" tIns="0" rIns="0" bIns="0" rtlCol="0" anchor="ctr"/>
          <a:lstStyle/>
          <a:p>
            <a:pPr marL="0" indent="0">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Création et configuration des filtres</a:t>
            </a:r>
            <a:endParaRPr lang="en-US" sz="1000" dirty="0"/>
          </a:p>
        </p:txBody>
      </p:sp>
      <p:sp>
        <p:nvSpPr>
          <p:cNvPr id="23" name="Shape 21"/>
          <p:cNvSpPr/>
          <p:nvPr/>
        </p:nvSpPr>
        <p:spPr>
          <a:xfrm>
            <a:off x="365760" y="3136392"/>
            <a:ext cx="8503920" cy="0"/>
          </a:xfrm>
          <a:prstGeom prst="line">
            <a:avLst/>
          </a:prstGeom>
          <a:noFill/>
          <a:ln w="6350">
            <a:solidFill>
              <a:srgbClr val="D1D5DB"/>
            </a:solidFill>
            <a:prstDash val="solid"/>
          </a:ln>
        </p:spPr>
      </p:sp>
      <p:sp>
        <p:nvSpPr>
          <p:cNvPr id="24" name="Shape 22"/>
          <p:cNvSpPr/>
          <p:nvPr/>
        </p:nvSpPr>
        <p:spPr>
          <a:xfrm>
            <a:off x="365760" y="3300984"/>
            <a:ext cx="411480" cy="384048"/>
          </a:xfrm>
          <a:prstGeom prst="rect">
            <a:avLst/>
          </a:prstGeom>
          <a:solidFill>
            <a:srgbClr val="0D6EFD"/>
          </a:solidFill>
          <a:ln w="12700">
            <a:solidFill>
              <a:srgbClr val="0D6EFD"/>
            </a:solidFill>
            <a:prstDash val="solid"/>
          </a:ln>
        </p:spPr>
      </p:sp>
      <p:sp>
        <p:nvSpPr>
          <p:cNvPr id="25" name="Text 23"/>
          <p:cNvSpPr/>
          <p:nvPr/>
        </p:nvSpPr>
        <p:spPr>
          <a:xfrm>
            <a:off x="365760" y="3300984"/>
            <a:ext cx="411480" cy="384048"/>
          </a:xfrm>
          <a:prstGeom prst="rect">
            <a:avLst/>
          </a:prstGeom>
          <a:noFill/>
        </p:spPr>
        <p:txBody>
          <a:bodyPr wrap="square" rtlCol="0" anchor="ctr"/>
          <a:lstStyle/>
          <a:p>
            <a:pPr marL="0" indent="0" algn="ctr">
              <a:buNone/>
            </a:pPr>
            <a:r>
              <a:rPr lang="en-US" sz="1200" b="1" dirty="0">
                <a:solidFill>
                  <a:srgbClr val="FFFFFF"/>
                </a:solidFill>
              </a:rPr>
              <a:t>05</a:t>
            </a:r>
            <a:endParaRPr lang="en-US" sz="1200" dirty="0"/>
          </a:p>
        </p:txBody>
      </p:sp>
      <p:sp>
        <p:nvSpPr>
          <p:cNvPr id="26" name="Text 24"/>
          <p:cNvSpPr/>
          <p:nvPr/>
        </p:nvSpPr>
        <p:spPr>
          <a:xfrm>
            <a:off x="914400" y="3300984"/>
            <a:ext cx="5029200" cy="219456"/>
          </a:xfrm>
          <a:prstGeom prst="rect">
            <a:avLst/>
          </a:prstGeom>
          <a:noFill/>
        </p:spPr>
        <p:txBody>
          <a:bodyPr wrap="square" lIns="0" tIns="0" rIns="0" bIns="0" rtlCol="0" anchor="ctr"/>
          <a:lstStyle/>
          <a:p>
            <a:pPr marL="0" indent="0">
              <a:buNone/>
            </a:pPr>
            <a:r>
              <a:rPr lang="en-US" sz="1300" b="1" dirty="0">
                <a:solidFill>
                  <a:srgbClr val="0A1628"/>
                </a:solidFill>
                <a:latin typeface="Calibri" panose="020F0502020204030204" pitchFamily="34" charset="0"/>
                <a:ea typeface="Calibri" panose="020F0502020204030204" pitchFamily="34" charset="-122"/>
                <a:cs typeface="Calibri" panose="020F0502020204030204" pitchFamily="34" charset="-120"/>
              </a:rPr>
              <a:t>Création d'Alarmes</a:t>
            </a:r>
            <a:endParaRPr lang="en-US" sz="1300" dirty="0"/>
          </a:p>
        </p:txBody>
      </p:sp>
      <p:sp>
        <p:nvSpPr>
          <p:cNvPr id="27" name="Text 25"/>
          <p:cNvSpPr/>
          <p:nvPr/>
        </p:nvSpPr>
        <p:spPr>
          <a:xfrm>
            <a:off x="914400" y="3502152"/>
            <a:ext cx="5029200" cy="182880"/>
          </a:xfrm>
          <a:prstGeom prst="rect">
            <a:avLst/>
          </a:prstGeom>
          <a:noFill/>
        </p:spPr>
        <p:txBody>
          <a:bodyPr wrap="square" lIns="0" tIns="0" rIns="0" bIns="0" rtlCol="0" anchor="ctr"/>
          <a:lstStyle/>
          <a:p>
            <a:pPr marL="0" indent="0">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Conditions, notifications SNS et alertes email</a:t>
            </a:r>
            <a:endParaRPr lang="en-US" sz="1000" dirty="0"/>
          </a:p>
        </p:txBody>
      </p:sp>
      <p:sp>
        <p:nvSpPr>
          <p:cNvPr id="28" name="Shape 26"/>
          <p:cNvSpPr/>
          <p:nvPr/>
        </p:nvSpPr>
        <p:spPr>
          <a:xfrm>
            <a:off x="365760" y="3721608"/>
            <a:ext cx="8503920" cy="0"/>
          </a:xfrm>
          <a:prstGeom prst="line">
            <a:avLst/>
          </a:prstGeom>
          <a:noFill/>
          <a:ln w="6350">
            <a:solidFill>
              <a:srgbClr val="D1D5DB"/>
            </a:solidFill>
            <a:prstDash val="solid"/>
          </a:ln>
        </p:spPr>
      </p:sp>
      <p:sp>
        <p:nvSpPr>
          <p:cNvPr id="29" name="Shape 27"/>
          <p:cNvSpPr/>
          <p:nvPr/>
        </p:nvSpPr>
        <p:spPr>
          <a:xfrm>
            <a:off x="365760" y="3886200"/>
            <a:ext cx="411480" cy="384048"/>
          </a:xfrm>
          <a:prstGeom prst="rect">
            <a:avLst/>
          </a:prstGeom>
          <a:solidFill>
            <a:srgbClr val="0D6EFD"/>
          </a:solidFill>
          <a:ln w="12700">
            <a:solidFill>
              <a:srgbClr val="0D6EFD"/>
            </a:solidFill>
            <a:prstDash val="solid"/>
          </a:ln>
        </p:spPr>
      </p:sp>
      <p:sp>
        <p:nvSpPr>
          <p:cNvPr id="30" name="Text 28"/>
          <p:cNvSpPr/>
          <p:nvPr/>
        </p:nvSpPr>
        <p:spPr>
          <a:xfrm>
            <a:off x="365760" y="3886200"/>
            <a:ext cx="411480" cy="384048"/>
          </a:xfrm>
          <a:prstGeom prst="rect">
            <a:avLst/>
          </a:prstGeom>
          <a:noFill/>
        </p:spPr>
        <p:txBody>
          <a:bodyPr wrap="square" rtlCol="0" anchor="ctr"/>
          <a:lstStyle/>
          <a:p>
            <a:pPr marL="0" indent="0" algn="ctr">
              <a:buNone/>
            </a:pPr>
            <a:r>
              <a:rPr lang="en-US" sz="1200" b="1" dirty="0">
                <a:solidFill>
                  <a:srgbClr val="FFFFFF"/>
                </a:solidFill>
              </a:rPr>
              <a:t>06</a:t>
            </a:r>
            <a:endParaRPr lang="en-US" sz="1200" dirty="0"/>
          </a:p>
        </p:txBody>
      </p:sp>
      <p:sp>
        <p:nvSpPr>
          <p:cNvPr id="31" name="Text 29"/>
          <p:cNvSpPr/>
          <p:nvPr/>
        </p:nvSpPr>
        <p:spPr>
          <a:xfrm>
            <a:off x="914400" y="3886200"/>
            <a:ext cx="5029200" cy="219456"/>
          </a:xfrm>
          <a:prstGeom prst="rect">
            <a:avLst/>
          </a:prstGeom>
          <a:noFill/>
        </p:spPr>
        <p:txBody>
          <a:bodyPr wrap="square" lIns="0" tIns="0" rIns="0" bIns="0" rtlCol="0" anchor="ctr"/>
          <a:lstStyle/>
          <a:p>
            <a:pPr marL="0" indent="0">
              <a:buNone/>
            </a:pPr>
            <a:r>
              <a:rPr lang="en-US" sz="1300" b="1" dirty="0">
                <a:solidFill>
                  <a:srgbClr val="0A1628"/>
                </a:solidFill>
                <a:latin typeface="Calibri" panose="020F0502020204030204" pitchFamily="34" charset="0"/>
                <a:ea typeface="Calibri" panose="020F0502020204030204" pitchFamily="34" charset="-122"/>
                <a:cs typeface="Calibri" panose="020F0502020204030204" pitchFamily="34" charset="-120"/>
              </a:rPr>
              <a:t>Surveillance VPC &amp; CloudTrail</a:t>
            </a:r>
            <a:endParaRPr lang="en-US" sz="1300" dirty="0"/>
          </a:p>
        </p:txBody>
      </p:sp>
      <p:sp>
        <p:nvSpPr>
          <p:cNvPr id="32" name="Text 30"/>
          <p:cNvSpPr/>
          <p:nvPr/>
        </p:nvSpPr>
        <p:spPr>
          <a:xfrm>
            <a:off x="914400" y="4087368"/>
            <a:ext cx="5029200" cy="182880"/>
          </a:xfrm>
          <a:prstGeom prst="rect">
            <a:avLst/>
          </a:prstGeom>
          <a:noFill/>
        </p:spPr>
        <p:txBody>
          <a:bodyPr wrap="square" lIns="0" tIns="0" rIns="0" bIns="0" rtlCol="0" anchor="ctr"/>
          <a:lstStyle/>
          <a:p>
            <a:pPr marL="0" indent="0">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Groupes de sécurité et historique des événements</a:t>
            </a:r>
            <a:endParaRPr lang="en-US" sz="1000" dirty="0"/>
          </a:p>
        </p:txBody>
      </p:sp>
      <p:sp>
        <p:nvSpPr>
          <p:cNvPr id="33" name="Shape 31"/>
          <p:cNvSpPr/>
          <p:nvPr/>
        </p:nvSpPr>
        <p:spPr>
          <a:xfrm>
            <a:off x="365760" y="4306824"/>
            <a:ext cx="8503920" cy="0"/>
          </a:xfrm>
          <a:prstGeom prst="line">
            <a:avLst/>
          </a:prstGeom>
          <a:noFill/>
          <a:ln w="6350">
            <a:solidFill>
              <a:srgbClr val="D1D5DB"/>
            </a:solidFill>
            <a:prstDash val="solid"/>
          </a:ln>
        </p:spPr>
      </p:sp>
      <p:sp>
        <p:nvSpPr>
          <p:cNvPr id="34" name="Shape 32"/>
          <p:cNvSpPr/>
          <p:nvPr/>
        </p:nvSpPr>
        <p:spPr>
          <a:xfrm>
            <a:off x="365760" y="4471416"/>
            <a:ext cx="411480" cy="384048"/>
          </a:xfrm>
          <a:prstGeom prst="rect">
            <a:avLst/>
          </a:prstGeom>
          <a:solidFill>
            <a:srgbClr val="0D6EFD"/>
          </a:solidFill>
          <a:ln w="12700">
            <a:solidFill>
              <a:srgbClr val="0D6EFD"/>
            </a:solidFill>
            <a:prstDash val="solid"/>
          </a:ln>
        </p:spPr>
      </p:sp>
      <p:sp>
        <p:nvSpPr>
          <p:cNvPr id="35" name="Text 33"/>
          <p:cNvSpPr/>
          <p:nvPr/>
        </p:nvSpPr>
        <p:spPr>
          <a:xfrm>
            <a:off x="365760" y="4471416"/>
            <a:ext cx="411480" cy="384048"/>
          </a:xfrm>
          <a:prstGeom prst="rect">
            <a:avLst/>
          </a:prstGeom>
          <a:noFill/>
        </p:spPr>
        <p:txBody>
          <a:bodyPr wrap="square" rtlCol="0" anchor="ctr"/>
          <a:lstStyle/>
          <a:p>
            <a:pPr marL="0" indent="0" algn="ctr">
              <a:buNone/>
            </a:pPr>
            <a:r>
              <a:rPr lang="en-US" sz="1200" b="1" dirty="0">
                <a:solidFill>
                  <a:srgbClr val="FFFFFF"/>
                </a:solidFill>
              </a:rPr>
              <a:t>07</a:t>
            </a:r>
            <a:endParaRPr lang="en-US" sz="1200" dirty="0"/>
          </a:p>
        </p:txBody>
      </p:sp>
      <p:sp>
        <p:nvSpPr>
          <p:cNvPr id="36" name="Text 34"/>
          <p:cNvSpPr/>
          <p:nvPr/>
        </p:nvSpPr>
        <p:spPr>
          <a:xfrm>
            <a:off x="914400" y="4471416"/>
            <a:ext cx="5029200" cy="219456"/>
          </a:xfrm>
          <a:prstGeom prst="rect">
            <a:avLst/>
          </a:prstGeom>
          <a:noFill/>
        </p:spPr>
        <p:txBody>
          <a:bodyPr wrap="square" lIns="0" tIns="0" rIns="0" bIns="0" rtlCol="0" anchor="ctr"/>
          <a:lstStyle/>
          <a:p>
            <a:pPr marL="0" indent="0">
              <a:buNone/>
            </a:pPr>
            <a:r>
              <a:rPr lang="en-US" sz="1300" b="1" dirty="0">
                <a:solidFill>
                  <a:srgbClr val="0A1628"/>
                </a:solidFill>
                <a:latin typeface="Calibri" panose="020F0502020204030204" pitchFamily="34" charset="0"/>
                <a:ea typeface="Calibri" panose="020F0502020204030204" pitchFamily="34" charset="-122"/>
                <a:cs typeface="Calibri" panose="020F0502020204030204" pitchFamily="34" charset="-120"/>
              </a:rPr>
              <a:t>Résultats &amp; Conclusion</a:t>
            </a:r>
            <a:endParaRPr lang="en-US" sz="1300" dirty="0"/>
          </a:p>
        </p:txBody>
      </p:sp>
      <p:sp>
        <p:nvSpPr>
          <p:cNvPr id="37" name="Text 35"/>
          <p:cNvSpPr/>
          <p:nvPr/>
        </p:nvSpPr>
        <p:spPr>
          <a:xfrm>
            <a:off x="914400" y="4672584"/>
            <a:ext cx="5029200" cy="182880"/>
          </a:xfrm>
          <a:prstGeom prst="rect">
            <a:avLst/>
          </a:prstGeom>
          <a:noFill/>
        </p:spPr>
        <p:txBody>
          <a:bodyPr wrap="square" lIns="0" tIns="0" rIns="0" bIns="0" rtlCol="0" anchor="ctr"/>
          <a:lstStyle/>
          <a:p>
            <a:pPr marL="0" indent="0">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Bilan du projet de surveillance AWS</a:t>
            </a:r>
            <a:endParaRPr lang="en-US" sz="1000" dirty="0"/>
          </a:p>
        </p:txBody>
      </p:sp>
      <p:sp>
        <p:nvSpPr>
          <p:cNvPr id="38" name="Shape 36"/>
          <p:cNvSpPr/>
          <p:nvPr/>
        </p:nvSpPr>
        <p:spPr>
          <a:xfrm>
            <a:off x="0" y="4983480"/>
            <a:ext cx="9144000" cy="160020"/>
          </a:xfrm>
          <a:prstGeom prst="rect">
            <a:avLst/>
          </a:prstGeom>
          <a:solidFill>
            <a:srgbClr val="0A1628"/>
          </a:solidFill>
          <a:ln w="12700">
            <a:solidFill>
              <a:srgbClr val="0A1628"/>
            </a:solidFill>
            <a:prstDash val="solid"/>
          </a:ln>
        </p:spPr>
      </p:sp>
      <p:sp>
        <p:nvSpPr>
          <p:cNvPr id="39" name="Text 37"/>
          <p:cNvSpPr/>
          <p:nvPr/>
        </p:nvSpPr>
        <p:spPr>
          <a:xfrm>
            <a:off x="0" y="4983480"/>
            <a:ext cx="9144000" cy="160020"/>
          </a:xfrm>
          <a:prstGeom prst="rect">
            <a:avLst/>
          </a:prstGeom>
          <a:noFill/>
        </p:spPr>
        <p:txBody>
          <a:bodyPr wrap="square" rtlCol="0" anchor="ctr"/>
          <a:lstStyle/>
          <a:p>
            <a:pPr marL="0" indent="0" algn="ctr">
              <a:buNone/>
            </a:pPr>
            <a:r>
              <a:rPr lang="en-US" sz="900" dirty="0">
                <a:solidFill>
                  <a:srgbClr val="00C9A7"/>
                </a:solidFill>
              </a:rPr>
              <a:t>Projet : Surveillance des activités de AWS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w="12700">
            <a:solidFill>
              <a:srgbClr val="0A1628"/>
            </a:solidFill>
            <a:prstDash val="solid"/>
          </a:ln>
        </p:spPr>
      </p:sp>
      <p:sp>
        <p:nvSpPr>
          <p:cNvPr id="3" name="Text 1"/>
          <p:cNvSpPr/>
          <p:nvPr/>
        </p:nvSpPr>
        <p:spPr>
          <a:xfrm>
            <a:off x="365760" y="91440"/>
            <a:ext cx="8229600" cy="777240"/>
          </a:xfrm>
          <a:prstGeom prst="rect">
            <a:avLst/>
          </a:prstGeom>
          <a:noFill/>
        </p:spPr>
        <p:txBody>
          <a:bodyPr wrap="square" rtlCol="0" anchor="ctr"/>
          <a:lstStyle/>
          <a:p>
            <a:pPr marL="0" indent="0">
              <a:buNone/>
            </a:pPr>
            <a:r>
              <a:rPr lang="en-US" sz="2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01 — Introduction à AWS CloudWatch</a:t>
            </a:r>
            <a:endParaRPr lang="en-US" sz="2600" dirty="0"/>
          </a:p>
        </p:txBody>
      </p:sp>
      <p:sp>
        <p:nvSpPr>
          <p:cNvPr id="4" name="Shape 2"/>
          <p:cNvSpPr/>
          <p:nvPr/>
        </p:nvSpPr>
        <p:spPr>
          <a:xfrm>
            <a:off x="365760" y="1097280"/>
            <a:ext cx="5029200" cy="1371600"/>
          </a:xfrm>
          <a:prstGeom prst="rect">
            <a:avLst/>
          </a:prstGeom>
          <a:solidFill>
            <a:srgbClr val="EFF6FF"/>
          </a:solidFill>
          <a:ln w="12700">
            <a:solidFill>
              <a:srgbClr val="0D6EFD"/>
            </a:solidFill>
            <a:prstDash val="solid"/>
          </a:ln>
        </p:spPr>
      </p:sp>
      <p:sp>
        <p:nvSpPr>
          <p:cNvPr id="5" name="Text 3"/>
          <p:cNvSpPr/>
          <p:nvPr/>
        </p:nvSpPr>
        <p:spPr>
          <a:xfrm>
            <a:off x="457200" y="1097280"/>
            <a:ext cx="4846320" cy="365760"/>
          </a:xfrm>
          <a:prstGeom prst="rect">
            <a:avLst/>
          </a:prstGeom>
          <a:noFill/>
        </p:spPr>
        <p:txBody>
          <a:bodyPr wrap="square" rtlCol="0" anchor="ctr"/>
          <a:lstStyle/>
          <a:p>
            <a:pPr marL="0" indent="0">
              <a:buNone/>
            </a:pPr>
            <a:r>
              <a:rPr lang="en-US" sz="1400" b="1" dirty="0">
                <a:solidFill>
                  <a:srgbClr val="0D6EFD"/>
                </a:solidFill>
                <a:latin typeface="Calibri" panose="020F0502020204030204" pitchFamily="34" charset="0"/>
                <a:ea typeface="Calibri" panose="020F0502020204030204" pitchFamily="34" charset="-122"/>
                <a:cs typeface="Calibri" panose="020F0502020204030204" pitchFamily="34" charset="-120"/>
              </a:rPr>
              <a:t>Qu'est-ce que CloudWatch ?</a:t>
            </a:r>
            <a:endParaRPr lang="en-US" sz="1400" dirty="0"/>
          </a:p>
        </p:txBody>
      </p:sp>
      <p:sp>
        <p:nvSpPr>
          <p:cNvPr id="6" name="Text 4"/>
          <p:cNvSpPr/>
          <p:nvPr/>
        </p:nvSpPr>
        <p:spPr>
          <a:xfrm>
            <a:off x="457200" y="1463040"/>
            <a:ext cx="4846320" cy="1005840"/>
          </a:xfrm>
          <a:prstGeom prst="rect">
            <a:avLst/>
          </a:prstGeom>
          <a:noFill/>
        </p:spPr>
        <p:txBody>
          <a:bodyPr wrap="square" rtlCol="0" anchor="t"/>
          <a:lstStyle/>
          <a:p>
            <a:pPr marL="0" indent="0">
              <a:buNone/>
            </a:pPr>
            <a:r>
              <a:rPr lang="en-US" sz="1200" dirty="0">
                <a:solidFill>
                  <a:srgbClr val="0A1628"/>
                </a:solidFill>
                <a:latin typeface="Calibri" panose="020F0502020204030204" pitchFamily="34" charset="0"/>
                <a:ea typeface="Calibri" panose="020F0502020204030204" pitchFamily="34" charset="-122"/>
                <a:cs typeface="Calibri" panose="020F0502020204030204" pitchFamily="34" charset="-120"/>
              </a:rPr>
              <a:t>Amazon CloudWatch est un service de surveillance et d'observabilité AWS. Il collecte des métriques, des journaux et des événements en temps réel pour vous aider à surveiller vos applications et ressources cloud.</a:t>
            </a:r>
            <a:endParaRPr lang="en-US" sz="1200" dirty="0"/>
          </a:p>
        </p:txBody>
      </p:sp>
      <p:sp>
        <p:nvSpPr>
          <p:cNvPr id="7" name="Shape 5"/>
          <p:cNvSpPr/>
          <p:nvPr/>
        </p:nvSpPr>
        <p:spPr>
          <a:xfrm>
            <a:off x="5760720" y="1097280"/>
            <a:ext cx="3017520" cy="1371600"/>
          </a:xfrm>
          <a:prstGeom prst="rect">
            <a:avLst/>
          </a:prstGeom>
          <a:solidFill>
            <a:srgbClr val="F0FDF4"/>
          </a:solidFill>
          <a:ln w="12700">
            <a:solidFill>
              <a:srgbClr val="00C9A7"/>
            </a:solidFill>
            <a:prstDash val="solid"/>
          </a:ln>
        </p:spPr>
      </p:sp>
      <p:sp>
        <p:nvSpPr>
          <p:cNvPr id="8" name="Text 6"/>
          <p:cNvSpPr/>
          <p:nvPr/>
        </p:nvSpPr>
        <p:spPr>
          <a:xfrm>
            <a:off x="5852160" y="1097280"/>
            <a:ext cx="2834640" cy="320040"/>
          </a:xfrm>
          <a:prstGeom prst="rect">
            <a:avLst/>
          </a:prstGeom>
          <a:noFill/>
        </p:spPr>
        <p:txBody>
          <a:bodyPr wrap="square" rtlCol="0" anchor="ctr"/>
          <a:lstStyle/>
          <a:p>
            <a:pPr marL="0" indent="0">
              <a:buNone/>
            </a:pPr>
            <a:r>
              <a:rPr lang="en-US" sz="1300" b="1" dirty="0">
                <a:solidFill>
                  <a:srgbClr val="00C9A7"/>
                </a:solidFill>
              </a:rPr>
              <a:t>Services Associés</a:t>
            </a:r>
            <a:endParaRPr lang="en-US" sz="1300" dirty="0"/>
          </a:p>
        </p:txBody>
      </p:sp>
      <p:sp>
        <p:nvSpPr>
          <p:cNvPr id="9" name="Text 7"/>
          <p:cNvSpPr/>
          <p:nvPr/>
        </p:nvSpPr>
        <p:spPr>
          <a:xfrm>
            <a:off x="5852160" y="1417320"/>
            <a:ext cx="2834640" cy="1005840"/>
          </a:xfrm>
          <a:prstGeom prst="rect">
            <a:avLst/>
          </a:prstGeom>
          <a:noFill/>
        </p:spPr>
        <p:txBody>
          <a:bodyPr wrap="square" rtlCol="0" anchor="ctr"/>
          <a:lstStyle/>
          <a:p>
            <a:pPr marL="0" indent="0">
              <a:buNone/>
            </a:pPr>
            <a:r>
              <a:rPr lang="en-US" sz="1000" b="1" dirty="0">
                <a:solidFill>
                  <a:srgbClr val="0A1628"/>
                </a:solidFill>
                <a:latin typeface="Calibri" panose="020F0502020204030204" pitchFamily="34" charset="0"/>
                <a:ea typeface="Calibri" panose="020F0502020204030204" pitchFamily="34" charset="-122"/>
                <a:cs typeface="Calibri" panose="020F0502020204030204" pitchFamily="34" charset="-120"/>
              </a:rPr>
              <a:t>CloudWatch</a:t>
            </a:r>
            <a:endParaRPr lang="en-US" sz="1000" dirty="0"/>
          </a:p>
          <a:p>
            <a:pPr marL="0" indent="0">
              <a:buNone/>
            </a:pPr>
            <a:r>
              <a:rPr lang="en-US" sz="1000" dirty="0">
                <a:solidFill>
                  <a:srgbClr val="0A1628"/>
                </a:solidFill>
                <a:latin typeface="Calibri" panose="020F0502020204030204" pitchFamily="34" charset="0"/>
                <a:ea typeface="Calibri" panose="020F0502020204030204" pitchFamily="34" charset="-122"/>
                <a:cs typeface="Calibri" panose="020F0502020204030204" pitchFamily="34" charset="-120"/>
              </a:rPr>
              <a:t>Surveille ressources et applications
</a:t>
            </a:r>
            <a:endParaRPr lang="en-US" sz="1000" dirty="0"/>
          </a:p>
          <a:p>
            <a:pPr marL="0" indent="0">
              <a:buNone/>
            </a:pPr>
            <a:r>
              <a:rPr lang="en-US" sz="1000" b="1" dirty="0">
                <a:solidFill>
                  <a:srgbClr val="0A1628"/>
                </a:solidFill>
                <a:latin typeface="Calibri" panose="020F0502020204030204" pitchFamily="34" charset="0"/>
                <a:ea typeface="Calibri" panose="020F0502020204030204" pitchFamily="34" charset="-122"/>
                <a:cs typeface="Calibri" panose="020F0502020204030204" pitchFamily="34" charset="-120"/>
              </a:rPr>
              <a:t>Amazon EventBridge</a:t>
            </a:r>
            <a:endParaRPr lang="en-US" sz="1000" dirty="0"/>
          </a:p>
          <a:p>
            <a:pPr marL="0" indent="0">
              <a:buNone/>
            </a:pPr>
            <a:r>
              <a:rPr lang="en-US" sz="1000" dirty="0">
                <a:solidFill>
                  <a:srgbClr val="0A1628"/>
                </a:solidFill>
                <a:latin typeface="Calibri" panose="020F0502020204030204" pitchFamily="34" charset="0"/>
                <a:ea typeface="Calibri" panose="020F0502020204030204" pitchFamily="34" charset="-122"/>
                <a:cs typeface="Calibri" panose="020F0502020204030204" pitchFamily="34" charset="-120"/>
              </a:rPr>
              <a:t>Applications axées sur les événements</a:t>
            </a:r>
            <a:endParaRPr lang="en-US" sz="1000" dirty="0"/>
          </a:p>
        </p:txBody>
      </p:sp>
      <p:sp>
        <p:nvSpPr>
          <p:cNvPr id="10" name="Shape 8"/>
          <p:cNvSpPr/>
          <p:nvPr/>
        </p:nvSpPr>
        <p:spPr>
          <a:xfrm>
            <a:off x="365760" y="2651760"/>
            <a:ext cx="1920240" cy="1325880"/>
          </a:xfrm>
          <a:prstGeom prst="rect">
            <a:avLst/>
          </a:prstGeom>
          <a:solidFill>
            <a:srgbClr val="FFFFFF"/>
          </a:solidFill>
          <a:ln w="12700">
            <a:solidFill>
              <a:srgbClr val="D1D5DB"/>
            </a:solidFill>
            <a:prstDash val="solid"/>
          </a:ln>
          <a:effectLst>
            <a:outerShdw blurRad="50800" dist="25400" dir="8100000" algn="bl" rotWithShape="0">
              <a:srgbClr val="000000">
                <a:alpha val="8000"/>
              </a:srgbClr>
            </a:outerShdw>
          </a:effectLst>
        </p:spPr>
      </p:sp>
      <p:sp>
        <p:nvSpPr>
          <p:cNvPr id="11" name="Text 9"/>
          <p:cNvSpPr/>
          <p:nvPr/>
        </p:nvSpPr>
        <p:spPr>
          <a:xfrm>
            <a:off x="365760" y="2697480"/>
            <a:ext cx="1920240" cy="457200"/>
          </a:xfrm>
          <a:prstGeom prst="rect">
            <a:avLst/>
          </a:prstGeom>
          <a:noFill/>
        </p:spPr>
        <p:txBody>
          <a:bodyPr wrap="square" rtlCol="0" anchor="ctr"/>
          <a:lstStyle/>
          <a:p>
            <a:pPr marL="0" indent="0" algn="ctr">
              <a:buNone/>
            </a:pPr>
            <a:r>
              <a:rPr lang="en-US" sz="2200" dirty="0">
                <a:solidFill>
                  <a:srgbClr val="000000"/>
                </a:solidFill>
              </a:rPr>
              <a:t>📊</a:t>
            </a:r>
            <a:endParaRPr lang="en-US" sz="2200" dirty="0"/>
          </a:p>
        </p:txBody>
      </p:sp>
      <p:sp>
        <p:nvSpPr>
          <p:cNvPr id="12" name="Text 10"/>
          <p:cNvSpPr/>
          <p:nvPr/>
        </p:nvSpPr>
        <p:spPr>
          <a:xfrm>
            <a:off x="365760" y="3108960"/>
            <a:ext cx="1920240" cy="274320"/>
          </a:xfrm>
          <a:prstGeom prst="rect">
            <a:avLst/>
          </a:prstGeom>
          <a:noFill/>
        </p:spPr>
        <p:txBody>
          <a:bodyPr wrap="square" rtlCol="0" anchor="ctr"/>
          <a:lstStyle/>
          <a:p>
            <a:pPr marL="0" indent="0" algn="ctr">
              <a:buNone/>
            </a:pPr>
            <a:r>
              <a:rPr lang="en-US" sz="1200" b="1" dirty="0">
                <a:solidFill>
                  <a:srgbClr val="0D6EFD"/>
                </a:solidFill>
                <a:latin typeface="Calibri" panose="020F0502020204030204" pitchFamily="34" charset="0"/>
                <a:ea typeface="Calibri" panose="020F0502020204030204" pitchFamily="34" charset="-122"/>
                <a:cs typeface="Calibri" panose="020F0502020204030204" pitchFamily="34" charset="-120"/>
              </a:rPr>
              <a:t>Métriques</a:t>
            </a:r>
            <a:endParaRPr lang="en-US" sz="1200" dirty="0"/>
          </a:p>
        </p:txBody>
      </p:sp>
      <p:sp>
        <p:nvSpPr>
          <p:cNvPr id="13" name="Text 11"/>
          <p:cNvSpPr/>
          <p:nvPr/>
        </p:nvSpPr>
        <p:spPr>
          <a:xfrm>
            <a:off x="365760" y="3364992"/>
            <a:ext cx="1920240" cy="548640"/>
          </a:xfrm>
          <a:prstGeom prst="rect">
            <a:avLst/>
          </a:prstGeom>
          <a:noFill/>
        </p:spPr>
        <p:txBody>
          <a:bodyPr wrap="square" rtlCol="0" anchor="ctr"/>
          <a:lstStyle/>
          <a:p>
            <a:pPr marL="0" indent="0" algn="ctr">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Collecte et visualise des données de performance</a:t>
            </a:r>
            <a:endParaRPr lang="en-US" sz="900" dirty="0"/>
          </a:p>
        </p:txBody>
      </p:sp>
      <p:sp>
        <p:nvSpPr>
          <p:cNvPr id="14" name="Shape 12"/>
          <p:cNvSpPr/>
          <p:nvPr/>
        </p:nvSpPr>
        <p:spPr>
          <a:xfrm>
            <a:off x="2468880" y="2651760"/>
            <a:ext cx="1920240" cy="1325880"/>
          </a:xfrm>
          <a:prstGeom prst="rect">
            <a:avLst/>
          </a:prstGeom>
          <a:solidFill>
            <a:srgbClr val="FFFFFF"/>
          </a:solidFill>
          <a:ln w="12700">
            <a:solidFill>
              <a:srgbClr val="D1D5DB"/>
            </a:solidFill>
            <a:prstDash val="solid"/>
          </a:ln>
          <a:effectLst>
            <a:outerShdw blurRad="50800" dist="25400" dir="8100000" algn="bl" rotWithShape="0">
              <a:srgbClr val="000000">
                <a:alpha val="8000"/>
              </a:srgbClr>
            </a:outerShdw>
          </a:effectLst>
        </p:spPr>
      </p:sp>
      <p:sp>
        <p:nvSpPr>
          <p:cNvPr id="15" name="Text 13"/>
          <p:cNvSpPr/>
          <p:nvPr/>
        </p:nvSpPr>
        <p:spPr>
          <a:xfrm>
            <a:off x="2468880" y="2697480"/>
            <a:ext cx="1920240" cy="457200"/>
          </a:xfrm>
          <a:prstGeom prst="rect">
            <a:avLst/>
          </a:prstGeom>
          <a:noFill/>
        </p:spPr>
        <p:txBody>
          <a:bodyPr wrap="square" rtlCol="0" anchor="ctr"/>
          <a:lstStyle/>
          <a:p>
            <a:pPr marL="0" indent="0" algn="ctr">
              <a:buNone/>
            </a:pPr>
            <a:r>
              <a:rPr lang="en-US" sz="2200" dirty="0">
                <a:solidFill>
                  <a:srgbClr val="000000"/>
                </a:solidFill>
              </a:rPr>
              <a:t>📋</a:t>
            </a:r>
            <a:endParaRPr lang="en-US" sz="2200" dirty="0"/>
          </a:p>
        </p:txBody>
      </p:sp>
      <p:sp>
        <p:nvSpPr>
          <p:cNvPr id="16" name="Text 14"/>
          <p:cNvSpPr/>
          <p:nvPr/>
        </p:nvSpPr>
        <p:spPr>
          <a:xfrm>
            <a:off x="2468880" y="3108960"/>
            <a:ext cx="1920240" cy="274320"/>
          </a:xfrm>
          <a:prstGeom prst="rect">
            <a:avLst/>
          </a:prstGeom>
          <a:noFill/>
        </p:spPr>
        <p:txBody>
          <a:bodyPr wrap="square" rtlCol="0" anchor="ctr"/>
          <a:lstStyle/>
          <a:p>
            <a:pPr marL="0" indent="0" algn="ctr">
              <a:buNone/>
            </a:pPr>
            <a:r>
              <a:rPr lang="en-US" sz="1200" b="1" dirty="0">
                <a:solidFill>
                  <a:srgbClr val="0D6EFD"/>
                </a:solidFill>
                <a:latin typeface="Calibri" panose="020F0502020204030204" pitchFamily="34" charset="0"/>
                <a:ea typeface="Calibri" panose="020F0502020204030204" pitchFamily="34" charset="-122"/>
                <a:cs typeface="Calibri" panose="020F0502020204030204" pitchFamily="34" charset="-120"/>
              </a:rPr>
              <a:t>Journaux</a:t>
            </a:r>
            <a:endParaRPr lang="en-US" sz="1200" dirty="0"/>
          </a:p>
        </p:txBody>
      </p:sp>
      <p:sp>
        <p:nvSpPr>
          <p:cNvPr id="17" name="Text 15"/>
          <p:cNvSpPr/>
          <p:nvPr/>
        </p:nvSpPr>
        <p:spPr>
          <a:xfrm>
            <a:off x="2468880" y="3364992"/>
            <a:ext cx="1920240" cy="548640"/>
          </a:xfrm>
          <a:prstGeom prst="rect">
            <a:avLst/>
          </a:prstGeom>
          <a:noFill/>
        </p:spPr>
        <p:txBody>
          <a:bodyPr wrap="square" rtlCol="0" anchor="ctr"/>
          <a:lstStyle/>
          <a:p>
            <a:pPr marL="0" indent="0" algn="ctr">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Stocke et analyse les logs d'applications</a:t>
            </a:r>
            <a:endParaRPr lang="en-US" sz="900" dirty="0"/>
          </a:p>
        </p:txBody>
      </p:sp>
      <p:sp>
        <p:nvSpPr>
          <p:cNvPr id="18" name="Shape 16"/>
          <p:cNvSpPr/>
          <p:nvPr/>
        </p:nvSpPr>
        <p:spPr>
          <a:xfrm>
            <a:off x="4572000" y="2651760"/>
            <a:ext cx="1920240" cy="1325880"/>
          </a:xfrm>
          <a:prstGeom prst="rect">
            <a:avLst/>
          </a:prstGeom>
          <a:solidFill>
            <a:srgbClr val="FFFFFF"/>
          </a:solidFill>
          <a:ln w="12700">
            <a:solidFill>
              <a:srgbClr val="D1D5DB"/>
            </a:solidFill>
            <a:prstDash val="solid"/>
          </a:ln>
          <a:effectLst>
            <a:outerShdw blurRad="50800" dist="25400" dir="8100000" algn="bl" rotWithShape="0">
              <a:srgbClr val="000000">
                <a:alpha val="8000"/>
              </a:srgbClr>
            </a:outerShdw>
          </a:effectLst>
        </p:spPr>
      </p:sp>
      <p:sp>
        <p:nvSpPr>
          <p:cNvPr id="19" name="Text 17"/>
          <p:cNvSpPr/>
          <p:nvPr/>
        </p:nvSpPr>
        <p:spPr>
          <a:xfrm>
            <a:off x="4572000" y="2697480"/>
            <a:ext cx="1920240" cy="457200"/>
          </a:xfrm>
          <a:prstGeom prst="rect">
            <a:avLst/>
          </a:prstGeom>
          <a:noFill/>
        </p:spPr>
        <p:txBody>
          <a:bodyPr wrap="square" rtlCol="0" anchor="ctr"/>
          <a:lstStyle/>
          <a:p>
            <a:pPr marL="0" indent="0" algn="ctr">
              <a:buNone/>
            </a:pPr>
            <a:r>
              <a:rPr lang="en-US" sz="2200" dirty="0">
                <a:solidFill>
                  <a:srgbClr val="000000"/>
                </a:solidFill>
              </a:rPr>
              <a:t>🔔</a:t>
            </a:r>
            <a:endParaRPr lang="en-US" sz="2200" dirty="0"/>
          </a:p>
        </p:txBody>
      </p:sp>
      <p:sp>
        <p:nvSpPr>
          <p:cNvPr id="20" name="Text 18"/>
          <p:cNvSpPr/>
          <p:nvPr/>
        </p:nvSpPr>
        <p:spPr>
          <a:xfrm>
            <a:off x="4572000" y="3108960"/>
            <a:ext cx="1920240" cy="274320"/>
          </a:xfrm>
          <a:prstGeom prst="rect">
            <a:avLst/>
          </a:prstGeom>
          <a:noFill/>
        </p:spPr>
        <p:txBody>
          <a:bodyPr wrap="square" rtlCol="0" anchor="ctr"/>
          <a:lstStyle/>
          <a:p>
            <a:pPr marL="0" indent="0" algn="ctr">
              <a:buNone/>
            </a:pPr>
            <a:r>
              <a:rPr lang="en-US" sz="1200" b="1" dirty="0">
                <a:solidFill>
                  <a:srgbClr val="0D6EFD"/>
                </a:solidFill>
                <a:latin typeface="Calibri" panose="020F0502020204030204" pitchFamily="34" charset="0"/>
                <a:ea typeface="Calibri" panose="020F0502020204030204" pitchFamily="34" charset="-122"/>
                <a:cs typeface="Calibri" panose="020F0502020204030204" pitchFamily="34" charset="-120"/>
              </a:rPr>
              <a:t>Alarmes</a:t>
            </a:r>
            <a:endParaRPr lang="en-US" sz="1200" dirty="0"/>
          </a:p>
        </p:txBody>
      </p:sp>
      <p:sp>
        <p:nvSpPr>
          <p:cNvPr id="21" name="Text 19"/>
          <p:cNvSpPr/>
          <p:nvPr/>
        </p:nvSpPr>
        <p:spPr>
          <a:xfrm>
            <a:off x="4572000" y="3364992"/>
            <a:ext cx="1920240" cy="548640"/>
          </a:xfrm>
          <a:prstGeom prst="rect">
            <a:avLst/>
          </a:prstGeom>
          <a:noFill/>
        </p:spPr>
        <p:txBody>
          <a:bodyPr wrap="square" rtlCol="0" anchor="ctr"/>
          <a:lstStyle/>
          <a:p>
            <a:pPr marL="0" indent="0" algn="ctr">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Notifie en cas de dépassement de seuil</a:t>
            </a:r>
            <a:endParaRPr lang="en-US" sz="900" dirty="0"/>
          </a:p>
        </p:txBody>
      </p:sp>
      <p:sp>
        <p:nvSpPr>
          <p:cNvPr id="22" name="Shape 20"/>
          <p:cNvSpPr/>
          <p:nvPr/>
        </p:nvSpPr>
        <p:spPr>
          <a:xfrm>
            <a:off x="6675120" y="2651760"/>
            <a:ext cx="1920240" cy="1325880"/>
          </a:xfrm>
          <a:prstGeom prst="rect">
            <a:avLst/>
          </a:prstGeom>
          <a:solidFill>
            <a:srgbClr val="FFFFFF"/>
          </a:solidFill>
          <a:ln w="12700">
            <a:solidFill>
              <a:srgbClr val="D1D5DB"/>
            </a:solidFill>
            <a:prstDash val="solid"/>
          </a:ln>
          <a:effectLst>
            <a:outerShdw blurRad="50800" dist="25400" dir="8100000" algn="bl" rotWithShape="0">
              <a:srgbClr val="000000">
                <a:alpha val="8000"/>
              </a:srgbClr>
            </a:outerShdw>
          </a:effectLst>
        </p:spPr>
      </p:sp>
      <p:sp>
        <p:nvSpPr>
          <p:cNvPr id="23" name="Text 21"/>
          <p:cNvSpPr/>
          <p:nvPr/>
        </p:nvSpPr>
        <p:spPr>
          <a:xfrm>
            <a:off x="6675120" y="2697480"/>
            <a:ext cx="1920240" cy="457200"/>
          </a:xfrm>
          <a:prstGeom prst="rect">
            <a:avLst/>
          </a:prstGeom>
          <a:noFill/>
        </p:spPr>
        <p:txBody>
          <a:bodyPr wrap="square" rtlCol="0" anchor="ctr"/>
          <a:lstStyle/>
          <a:p>
            <a:pPr marL="0" indent="0" algn="ctr">
              <a:buNone/>
            </a:pPr>
            <a:r>
              <a:rPr lang="en-US" sz="2200" dirty="0">
                <a:solidFill>
                  <a:srgbClr val="000000"/>
                </a:solidFill>
              </a:rPr>
              <a:t>🔍</a:t>
            </a:r>
            <a:endParaRPr lang="en-US" sz="2200" dirty="0"/>
          </a:p>
        </p:txBody>
      </p:sp>
      <p:sp>
        <p:nvSpPr>
          <p:cNvPr id="24" name="Text 22"/>
          <p:cNvSpPr/>
          <p:nvPr/>
        </p:nvSpPr>
        <p:spPr>
          <a:xfrm>
            <a:off x="6675120" y="3108960"/>
            <a:ext cx="1920240" cy="274320"/>
          </a:xfrm>
          <a:prstGeom prst="rect">
            <a:avLst/>
          </a:prstGeom>
          <a:noFill/>
        </p:spPr>
        <p:txBody>
          <a:bodyPr wrap="square" rtlCol="0" anchor="ctr"/>
          <a:lstStyle/>
          <a:p>
            <a:pPr marL="0" indent="0" algn="ctr">
              <a:buNone/>
            </a:pPr>
            <a:r>
              <a:rPr lang="en-US" sz="1200" b="1" dirty="0">
                <a:solidFill>
                  <a:srgbClr val="0D6EFD"/>
                </a:solidFill>
                <a:latin typeface="Calibri" panose="020F0502020204030204" pitchFamily="34" charset="0"/>
                <a:ea typeface="Calibri" panose="020F0502020204030204" pitchFamily="34" charset="-122"/>
                <a:cs typeface="Calibri" panose="020F0502020204030204" pitchFamily="34" charset="-120"/>
              </a:rPr>
              <a:t>Événements</a:t>
            </a:r>
            <a:endParaRPr lang="en-US" sz="1200" dirty="0"/>
          </a:p>
        </p:txBody>
      </p:sp>
      <p:sp>
        <p:nvSpPr>
          <p:cNvPr id="25" name="Text 23"/>
          <p:cNvSpPr/>
          <p:nvPr/>
        </p:nvSpPr>
        <p:spPr>
          <a:xfrm>
            <a:off x="6675120" y="3364992"/>
            <a:ext cx="1920240" cy="548640"/>
          </a:xfrm>
          <a:prstGeom prst="rect">
            <a:avLst/>
          </a:prstGeom>
          <a:noFill/>
        </p:spPr>
        <p:txBody>
          <a:bodyPr wrap="square" rtlCol="0" anchor="ctr"/>
          <a:lstStyle/>
          <a:p>
            <a:pPr marL="0" indent="0" algn="ctr">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Surveille les changements de configuration</a:t>
            </a:r>
            <a:endParaRPr lang="en-US" sz="900" dirty="0"/>
          </a:p>
        </p:txBody>
      </p:sp>
      <p:sp>
        <p:nvSpPr>
          <p:cNvPr id="26" name="Shape 24"/>
          <p:cNvSpPr/>
          <p:nvPr/>
        </p:nvSpPr>
        <p:spPr>
          <a:xfrm>
            <a:off x="0" y="4983480"/>
            <a:ext cx="9144000" cy="160020"/>
          </a:xfrm>
          <a:prstGeom prst="rect">
            <a:avLst/>
          </a:prstGeom>
          <a:solidFill>
            <a:srgbClr val="0A1628"/>
          </a:solidFill>
          <a:ln w="12700">
            <a:solidFill>
              <a:srgbClr val="0A1628"/>
            </a:solidFill>
            <a:prstDash val="solid"/>
          </a:ln>
        </p:spPr>
      </p:sp>
      <p:sp>
        <p:nvSpPr>
          <p:cNvPr id="27" name="Text 25"/>
          <p:cNvSpPr/>
          <p:nvPr/>
        </p:nvSpPr>
        <p:spPr>
          <a:xfrm>
            <a:off x="0" y="4983480"/>
            <a:ext cx="9144000" cy="160020"/>
          </a:xfrm>
          <a:prstGeom prst="rect">
            <a:avLst/>
          </a:prstGeom>
          <a:noFill/>
        </p:spPr>
        <p:txBody>
          <a:bodyPr wrap="square" rtlCol="0" anchor="ctr"/>
          <a:lstStyle/>
          <a:p>
            <a:pPr marL="0" indent="0" algn="ctr">
              <a:buNone/>
            </a:pPr>
            <a:r>
              <a:rPr lang="en-US" sz="900" dirty="0">
                <a:solidFill>
                  <a:srgbClr val="8899AA"/>
                </a:solidFill>
              </a:rPr>
              <a:t>Projet : Surveillance des activités de AWS  |  Haye Fall  —  LICC2  —  BEM.ECH</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w="12700">
            <a:solidFill>
              <a:srgbClr val="0A1628"/>
            </a:solidFill>
            <a:prstDash val="solid"/>
          </a:ln>
        </p:spPr>
      </p:sp>
      <p:sp>
        <p:nvSpPr>
          <p:cNvPr id="3" name="Text 1"/>
          <p:cNvSpPr/>
          <p:nvPr/>
        </p:nvSpPr>
        <p:spPr>
          <a:xfrm>
            <a:off x="365760" y="91440"/>
            <a:ext cx="8229600" cy="777240"/>
          </a:xfrm>
          <a:prstGeom prst="rect">
            <a:avLst/>
          </a:prstGeom>
          <a:noFill/>
        </p:spPr>
        <p:txBody>
          <a:bodyPr wrap="square" rtlCol="0" anchor="ctr"/>
          <a:lstStyle/>
          <a:p>
            <a:pPr marL="0" indent="0">
              <a:buNone/>
            </a:pPr>
            <a:r>
              <a:rPr lang="en-US" sz="2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02 — Tableau de Bord CloudWatch</a:t>
            </a:r>
            <a:endParaRPr lang="en-US" sz="2600" dirty="0"/>
          </a:p>
        </p:txBody>
      </p:sp>
      <p:sp>
        <p:nvSpPr>
          <p:cNvPr id="4" name="Shape 2"/>
          <p:cNvSpPr/>
          <p:nvPr/>
        </p:nvSpPr>
        <p:spPr>
          <a:xfrm>
            <a:off x="365760" y="1051560"/>
            <a:ext cx="4754880" cy="2926080"/>
          </a:xfrm>
          <a:prstGeom prst="rect">
            <a:avLst/>
          </a:prstGeom>
          <a:solidFill>
            <a:srgbClr val="E0EAFF"/>
          </a:solidFill>
          <a:ln w="12700">
            <a:solidFill>
              <a:srgbClr val="0D6EFD"/>
            </a:solidFill>
            <a:prstDash val="solid"/>
          </a:ln>
        </p:spPr>
      </p:sp>
      <p:pic>
        <p:nvPicPr>
          <p:cNvPr id="5" name="Image 0" descr="/mnt/user-data/uploads/k.png"/>
          <p:cNvPicPr>
            <a:picLocks noChangeAspect="1"/>
          </p:cNvPicPr>
          <p:nvPr/>
        </p:nvPicPr>
        <p:blipFill>
          <a:blip r:embed="rId1"/>
          <a:srcRect/>
          <a:stretch>
            <a:fillRect/>
          </a:stretch>
        </p:blipFill>
        <p:spPr>
          <a:xfrm>
            <a:off x="365760" y="1051560"/>
            <a:ext cx="4754880" cy="2926080"/>
          </a:xfrm>
          <a:prstGeom prst="rect">
            <a:avLst/>
          </a:prstGeom>
        </p:spPr>
      </p:pic>
      <p:sp>
        <p:nvSpPr>
          <p:cNvPr id="6" name="Text 3"/>
          <p:cNvSpPr/>
          <p:nvPr/>
        </p:nvSpPr>
        <p:spPr>
          <a:xfrm>
            <a:off x="5394960" y="1051560"/>
            <a:ext cx="3474720" cy="365760"/>
          </a:xfrm>
          <a:prstGeom prst="rect">
            <a:avLst/>
          </a:prstGeom>
          <a:noFill/>
        </p:spPr>
        <p:txBody>
          <a:bodyPr wrap="square" lIns="0" tIns="0" rIns="0" bIns="0" rtlCol="0" anchor="ctr"/>
          <a:lstStyle/>
          <a:p>
            <a:pPr marL="0" indent="0">
              <a:buNone/>
            </a:pPr>
            <a:r>
              <a:rPr lang="en-US" sz="1500" b="1" dirty="0">
                <a:solidFill>
                  <a:srgbClr val="0A1628"/>
                </a:solidFill>
                <a:latin typeface="Calibri" panose="020F0502020204030204" pitchFamily="34" charset="0"/>
                <a:ea typeface="Calibri" panose="020F0502020204030204" pitchFamily="34" charset="-122"/>
                <a:cs typeface="Calibri" panose="020F0502020204030204" pitchFamily="34" charset="-120"/>
              </a:rPr>
              <a:t>Fonctionnalités Clés</a:t>
            </a:r>
            <a:endParaRPr lang="en-US" sz="1500" dirty="0"/>
          </a:p>
        </p:txBody>
      </p:sp>
      <p:sp>
        <p:nvSpPr>
          <p:cNvPr id="7" name="Shape 4"/>
          <p:cNvSpPr/>
          <p:nvPr/>
        </p:nvSpPr>
        <p:spPr>
          <a:xfrm>
            <a:off x="5394960" y="1508760"/>
            <a:ext cx="3474720" cy="548640"/>
          </a:xfrm>
          <a:prstGeom prst="rect">
            <a:avLst/>
          </a:prstGeom>
          <a:solidFill>
            <a:srgbClr val="FFFFFF"/>
          </a:solidFill>
          <a:ln w="12700">
            <a:solidFill>
              <a:srgbClr val="E2E8F0"/>
            </a:solidFill>
            <a:prstDash val="solid"/>
          </a:ln>
        </p:spPr>
      </p:sp>
      <p:sp>
        <p:nvSpPr>
          <p:cNvPr id="8" name="Text 5"/>
          <p:cNvSpPr/>
          <p:nvPr/>
        </p:nvSpPr>
        <p:spPr>
          <a:xfrm>
            <a:off x="5440680" y="1508760"/>
            <a:ext cx="457200" cy="548640"/>
          </a:xfrm>
          <a:prstGeom prst="rect">
            <a:avLst/>
          </a:prstGeom>
          <a:noFill/>
        </p:spPr>
        <p:txBody>
          <a:bodyPr wrap="square" rtlCol="0" anchor="ctr"/>
          <a:lstStyle/>
          <a:p>
            <a:pPr marL="0" indent="0" algn="ctr">
              <a:buNone/>
            </a:pPr>
            <a:r>
              <a:rPr lang="en-US" sz="1800" dirty="0">
                <a:solidFill>
                  <a:srgbClr val="000000"/>
                </a:solidFill>
              </a:rPr>
              <a:t>🔔</a:t>
            </a:r>
            <a:endParaRPr lang="en-US" sz="1800" dirty="0"/>
          </a:p>
        </p:txBody>
      </p:sp>
      <p:sp>
        <p:nvSpPr>
          <p:cNvPr id="9" name="Text 6"/>
          <p:cNvSpPr/>
          <p:nvPr/>
        </p:nvSpPr>
        <p:spPr>
          <a:xfrm>
            <a:off x="5943600" y="1545336"/>
            <a:ext cx="2834640" cy="228600"/>
          </a:xfrm>
          <a:prstGeom prst="rect">
            <a:avLst/>
          </a:prstGeom>
          <a:noFill/>
        </p:spPr>
        <p:txBody>
          <a:bodyPr wrap="square" lIns="0" tIns="0" rIns="0" bIns="0" rtlCol="0" anchor="ctr"/>
          <a:lstStyle/>
          <a:p>
            <a:pPr marL="0" indent="0">
              <a:buNone/>
            </a:pPr>
            <a:r>
              <a:rPr lang="en-US" sz="1200" b="1" dirty="0">
                <a:solidFill>
                  <a:srgbClr val="0A1628"/>
                </a:solidFill>
                <a:latin typeface="Calibri" panose="020F0502020204030204" pitchFamily="34" charset="0"/>
                <a:ea typeface="Calibri" panose="020F0502020204030204" pitchFamily="34" charset="-122"/>
                <a:cs typeface="Calibri" panose="020F0502020204030204" pitchFamily="34" charset="-120"/>
              </a:rPr>
              <a:t>Créer des Alarmes</a:t>
            </a:r>
            <a:endParaRPr lang="en-US" sz="1200" dirty="0"/>
          </a:p>
        </p:txBody>
      </p:sp>
      <p:sp>
        <p:nvSpPr>
          <p:cNvPr id="10" name="Text 7"/>
          <p:cNvSpPr/>
          <p:nvPr/>
        </p:nvSpPr>
        <p:spPr>
          <a:xfrm>
            <a:off x="5943600" y="1764792"/>
            <a:ext cx="2834640" cy="201168"/>
          </a:xfrm>
          <a:prstGeom prst="rect">
            <a:avLst/>
          </a:prstGeom>
          <a:noFill/>
        </p:spPr>
        <p:txBody>
          <a:bodyPr wrap="square" lIns="0" tIns="0" rIns="0" bIns="0" rtlCol="0" anchor="ctr"/>
          <a:lstStyle/>
          <a:p>
            <a:pPr marL="0" indent="0">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Définir des seuils sur vos métriques</a:t>
            </a:r>
            <a:endParaRPr lang="en-US" sz="1000" dirty="0"/>
          </a:p>
        </p:txBody>
      </p:sp>
      <p:sp>
        <p:nvSpPr>
          <p:cNvPr id="11" name="Shape 8"/>
          <p:cNvSpPr/>
          <p:nvPr/>
        </p:nvSpPr>
        <p:spPr>
          <a:xfrm>
            <a:off x="5394960" y="2148840"/>
            <a:ext cx="3474720" cy="548640"/>
          </a:xfrm>
          <a:prstGeom prst="rect">
            <a:avLst/>
          </a:prstGeom>
          <a:solidFill>
            <a:srgbClr val="FFFFFF"/>
          </a:solidFill>
          <a:ln w="12700">
            <a:solidFill>
              <a:srgbClr val="E2E8F0"/>
            </a:solidFill>
            <a:prstDash val="solid"/>
          </a:ln>
        </p:spPr>
      </p:sp>
      <p:sp>
        <p:nvSpPr>
          <p:cNvPr id="12" name="Text 9"/>
          <p:cNvSpPr/>
          <p:nvPr/>
        </p:nvSpPr>
        <p:spPr>
          <a:xfrm>
            <a:off x="5440680" y="2148840"/>
            <a:ext cx="457200" cy="548640"/>
          </a:xfrm>
          <a:prstGeom prst="rect">
            <a:avLst/>
          </a:prstGeom>
          <a:noFill/>
        </p:spPr>
        <p:txBody>
          <a:bodyPr wrap="square" rtlCol="0" anchor="ctr"/>
          <a:lstStyle/>
          <a:p>
            <a:pPr marL="0" indent="0" algn="ctr">
              <a:buNone/>
            </a:pPr>
            <a:r>
              <a:rPr lang="en-US" sz="1800" dirty="0">
                <a:solidFill>
                  <a:srgbClr val="000000"/>
                </a:solidFill>
              </a:rPr>
              <a:t>📊</a:t>
            </a:r>
            <a:endParaRPr lang="en-US" sz="1800" dirty="0"/>
          </a:p>
        </p:txBody>
      </p:sp>
      <p:sp>
        <p:nvSpPr>
          <p:cNvPr id="13" name="Text 10"/>
          <p:cNvSpPr/>
          <p:nvPr/>
        </p:nvSpPr>
        <p:spPr>
          <a:xfrm>
            <a:off x="5943600" y="2185416"/>
            <a:ext cx="2834640" cy="228600"/>
          </a:xfrm>
          <a:prstGeom prst="rect">
            <a:avLst/>
          </a:prstGeom>
          <a:noFill/>
        </p:spPr>
        <p:txBody>
          <a:bodyPr wrap="square" lIns="0" tIns="0" rIns="0" bIns="0" rtlCol="0" anchor="ctr"/>
          <a:lstStyle/>
          <a:p>
            <a:pPr marL="0" indent="0">
              <a:buNone/>
            </a:pPr>
            <a:r>
              <a:rPr lang="en-US" sz="1200" b="1" dirty="0">
                <a:solidFill>
                  <a:srgbClr val="0A1628"/>
                </a:solidFill>
                <a:latin typeface="Calibri" panose="020F0502020204030204" pitchFamily="34" charset="0"/>
                <a:ea typeface="Calibri" panose="020F0502020204030204" pitchFamily="34" charset="-122"/>
                <a:cs typeface="Calibri" panose="020F0502020204030204" pitchFamily="34" charset="-120"/>
              </a:rPr>
              <a:t>Tableaux de bord</a:t>
            </a:r>
            <a:endParaRPr lang="en-US" sz="1200" dirty="0"/>
          </a:p>
        </p:txBody>
      </p:sp>
      <p:sp>
        <p:nvSpPr>
          <p:cNvPr id="14" name="Text 11"/>
          <p:cNvSpPr/>
          <p:nvPr/>
        </p:nvSpPr>
        <p:spPr>
          <a:xfrm>
            <a:off x="5943600" y="2404872"/>
            <a:ext cx="2834640" cy="201168"/>
          </a:xfrm>
          <a:prstGeom prst="rect">
            <a:avLst/>
          </a:prstGeom>
          <a:noFill/>
        </p:spPr>
        <p:txBody>
          <a:bodyPr wrap="square" lIns="0" tIns="0" rIns="0" bIns="0" rtlCol="0" anchor="ctr"/>
          <a:lstStyle/>
          <a:p>
            <a:pPr marL="0" indent="0">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Visualiser CloudWatch-Default</a:t>
            </a:r>
            <a:endParaRPr lang="en-US" sz="1000" dirty="0"/>
          </a:p>
        </p:txBody>
      </p:sp>
      <p:sp>
        <p:nvSpPr>
          <p:cNvPr id="15" name="Shape 12"/>
          <p:cNvSpPr/>
          <p:nvPr/>
        </p:nvSpPr>
        <p:spPr>
          <a:xfrm>
            <a:off x="5394960" y="2788920"/>
            <a:ext cx="3474720" cy="548640"/>
          </a:xfrm>
          <a:prstGeom prst="rect">
            <a:avLst/>
          </a:prstGeom>
          <a:solidFill>
            <a:srgbClr val="FFFFFF"/>
          </a:solidFill>
          <a:ln w="12700">
            <a:solidFill>
              <a:srgbClr val="E2E8F0"/>
            </a:solidFill>
            <a:prstDash val="solid"/>
          </a:ln>
        </p:spPr>
      </p:sp>
      <p:sp>
        <p:nvSpPr>
          <p:cNvPr id="16" name="Text 13"/>
          <p:cNvSpPr/>
          <p:nvPr/>
        </p:nvSpPr>
        <p:spPr>
          <a:xfrm>
            <a:off x="5440680" y="2788920"/>
            <a:ext cx="457200" cy="548640"/>
          </a:xfrm>
          <a:prstGeom prst="rect">
            <a:avLst/>
          </a:prstGeom>
          <a:noFill/>
        </p:spPr>
        <p:txBody>
          <a:bodyPr wrap="square" rtlCol="0" anchor="ctr"/>
          <a:lstStyle/>
          <a:p>
            <a:pPr marL="0" indent="0" algn="ctr">
              <a:buNone/>
            </a:pPr>
            <a:r>
              <a:rPr lang="en-US" sz="1800" dirty="0">
                <a:solidFill>
                  <a:srgbClr val="000000"/>
                </a:solidFill>
              </a:rPr>
              <a:t>📁</a:t>
            </a:r>
            <a:endParaRPr lang="en-US" sz="1800" dirty="0"/>
          </a:p>
        </p:txBody>
      </p:sp>
      <p:sp>
        <p:nvSpPr>
          <p:cNvPr id="17" name="Text 14"/>
          <p:cNvSpPr/>
          <p:nvPr/>
        </p:nvSpPr>
        <p:spPr>
          <a:xfrm>
            <a:off x="5943600" y="2825496"/>
            <a:ext cx="2834640" cy="228600"/>
          </a:xfrm>
          <a:prstGeom prst="rect">
            <a:avLst/>
          </a:prstGeom>
          <a:noFill/>
        </p:spPr>
        <p:txBody>
          <a:bodyPr wrap="square" lIns="0" tIns="0" rIns="0" bIns="0" rtlCol="0" anchor="ctr"/>
          <a:lstStyle/>
          <a:p>
            <a:pPr marL="0" indent="0">
              <a:buNone/>
            </a:pPr>
            <a:r>
              <a:rPr lang="en-US" sz="1200" b="1" dirty="0">
                <a:solidFill>
                  <a:srgbClr val="0A1628"/>
                </a:solidFill>
                <a:latin typeface="Calibri" panose="020F0502020204030204" pitchFamily="34" charset="0"/>
                <a:ea typeface="Calibri" panose="020F0502020204030204" pitchFamily="34" charset="-122"/>
                <a:cs typeface="Calibri" panose="020F0502020204030204" pitchFamily="34" charset="-120"/>
              </a:rPr>
              <a:t>Afficher les Journaux</a:t>
            </a:r>
            <a:endParaRPr lang="en-US" sz="1200" dirty="0"/>
          </a:p>
        </p:txBody>
      </p:sp>
      <p:sp>
        <p:nvSpPr>
          <p:cNvPr id="18" name="Text 15"/>
          <p:cNvSpPr/>
          <p:nvPr/>
        </p:nvSpPr>
        <p:spPr>
          <a:xfrm>
            <a:off x="5943600" y="3044952"/>
            <a:ext cx="2834640" cy="201168"/>
          </a:xfrm>
          <a:prstGeom prst="rect">
            <a:avLst/>
          </a:prstGeom>
          <a:noFill/>
        </p:spPr>
        <p:txBody>
          <a:bodyPr wrap="square" lIns="0" tIns="0" rIns="0" bIns="0" rtlCol="0" anchor="ctr"/>
          <a:lstStyle/>
          <a:p>
            <a:pPr marL="0" indent="0">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Surveiller fichiers journaux existants</a:t>
            </a:r>
            <a:endParaRPr lang="en-US" sz="1000" dirty="0"/>
          </a:p>
        </p:txBody>
      </p:sp>
      <p:sp>
        <p:nvSpPr>
          <p:cNvPr id="19" name="Shape 16"/>
          <p:cNvSpPr/>
          <p:nvPr/>
        </p:nvSpPr>
        <p:spPr>
          <a:xfrm>
            <a:off x="5394960" y="3429000"/>
            <a:ext cx="3474720" cy="548640"/>
          </a:xfrm>
          <a:prstGeom prst="rect">
            <a:avLst/>
          </a:prstGeom>
          <a:solidFill>
            <a:srgbClr val="FFFFFF"/>
          </a:solidFill>
          <a:ln w="12700">
            <a:solidFill>
              <a:srgbClr val="E2E8F0"/>
            </a:solidFill>
            <a:prstDash val="solid"/>
          </a:ln>
        </p:spPr>
      </p:sp>
      <p:sp>
        <p:nvSpPr>
          <p:cNvPr id="20" name="Text 17"/>
          <p:cNvSpPr/>
          <p:nvPr/>
        </p:nvSpPr>
        <p:spPr>
          <a:xfrm>
            <a:off x="5440680" y="3429000"/>
            <a:ext cx="457200" cy="548640"/>
          </a:xfrm>
          <a:prstGeom prst="rect">
            <a:avLst/>
          </a:prstGeom>
          <a:noFill/>
        </p:spPr>
        <p:txBody>
          <a:bodyPr wrap="square" rtlCol="0" anchor="ctr"/>
          <a:lstStyle/>
          <a:p>
            <a:pPr marL="0" indent="0" algn="ctr">
              <a:buNone/>
            </a:pPr>
            <a:r>
              <a:rPr lang="en-US" sz="1800" dirty="0">
                <a:solidFill>
                  <a:srgbClr val="000000"/>
                </a:solidFill>
              </a:rPr>
              <a:t>⚡</a:t>
            </a:r>
            <a:endParaRPr lang="en-US" sz="1800" dirty="0"/>
          </a:p>
        </p:txBody>
      </p:sp>
      <p:sp>
        <p:nvSpPr>
          <p:cNvPr id="21" name="Text 18"/>
          <p:cNvSpPr/>
          <p:nvPr/>
        </p:nvSpPr>
        <p:spPr>
          <a:xfrm>
            <a:off x="5943600" y="3465576"/>
            <a:ext cx="2834640" cy="228600"/>
          </a:xfrm>
          <a:prstGeom prst="rect">
            <a:avLst/>
          </a:prstGeom>
          <a:noFill/>
        </p:spPr>
        <p:txBody>
          <a:bodyPr wrap="square" lIns="0" tIns="0" rIns="0" bIns="0" rtlCol="0" anchor="ctr"/>
          <a:lstStyle/>
          <a:p>
            <a:pPr marL="0" indent="0">
              <a:buNone/>
            </a:pPr>
            <a:r>
              <a:rPr lang="en-US" sz="1200" b="1" dirty="0">
                <a:solidFill>
                  <a:srgbClr val="0A1628"/>
                </a:solidFill>
                <a:latin typeface="Calibri" panose="020F0502020204030204" pitchFamily="34" charset="0"/>
                <a:ea typeface="Calibri" panose="020F0502020204030204" pitchFamily="34" charset="-122"/>
                <a:cs typeface="Calibri" panose="020F0502020204030204" pitchFamily="34" charset="-120"/>
              </a:rPr>
              <a:t>Afficher les Événements</a:t>
            </a:r>
            <a:endParaRPr lang="en-US" sz="1200" dirty="0"/>
          </a:p>
        </p:txBody>
      </p:sp>
      <p:sp>
        <p:nvSpPr>
          <p:cNvPr id="22" name="Text 19"/>
          <p:cNvSpPr/>
          <p:nvPr/>
        </p:nvSpPr>
        <p:spPr>
          <a:xfrm>
            <a:off x="5943600" y="3685032"/>
            <a:ext cx="2834640" cy="201168"/>
          </a:xfrm>
          <a:prstGeom prst="rect">
            <a:avLst/>
          </a:prstGeom>
          <a:noFill/>
        </p:spPr>
        <p:txBody>
          <a:bodyPr wrap="square" lIns="0" tIns="0" rIns="0" bIns="0" rtlCol="0" anchor="ctr"/>
          <a:lstStyle/>
          <a:p>
            <a:pPr marL="0" indent="0">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Gérer les règles d'événements AWS</a:t>
            </a:r>
            <a:endParaRPr lang="en-US" sz="1000" dirty="0"/>
          </a:p>
        </p:txBody>
      </p:sp>
      <p:sp>
        <p:nvSpPr>
          <p:cNvPr id="23" name="Shape 20"/>
          <p:cNvSpPr/>
          <p:nvPr/>
        </p:nvSpPr>
        <p:spPr>
          <a:xfrm>
            <a:off x="0" y="4983480"/>
            <a:ext cx="9144000" cy="160020"/>
          </a:xfrm>
          <a:prstGeom prst="rect">
            <a:avLst/>
          </a:prstGeom>
          <a:solidFill>
            <a:srgbClr val="0A1628"/>
          </a:solidFill>
          <a:ln w="12700">
            <a:solidFill>
              <a:srgbClr val="0A1628"/>
            </a:solidFill>
            <a:prstDash val="solid"/>
          </a:ln>
        </p:spPr>
      </p:sp>
      <p:sp>
        <p:nvSpPr>
          <p:cNvPr id="24" name="Text 21"/>
          <p:cNvSpPr/>
          <p:nvPr/>
        </p:nvSpPr>
        <p:spPr>
          <a:xfrm>
            <a:off x="0" y="4983480"/>
            <a:ext cx="9144000" cy="160020"/>
          </a:xfrm>
          <a:prstGeom prst="rect">
            <a:avLst/>
          </a:prstGeom>
          <a:noFill/>
        </p:spPr>
        <p:txBody>
          <a:bodyPr wrap="square" rtlCol="0" anchor="ctr"/>
          <a:lstStyle/>
          <a:p>
            <a:pPr marL="0" indent="0" algn="ctr">
              <a:buNone/>
            </a:pPr>
            <a:r>
              <a:rPr lang="en-US" sz="900" dirty="0">
                <a:solidFill>
                  <a:srgbClr val="8899AA"/>
                </a:solidFill>
              </a:rPr>
              <a:t>Projet : Surveillance des activités de AWS  |  Haye Fall  —  LICC2  —  BEM.ECH</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6EFD"/>
          </a:solidFill>
          <a:ln w="12700">
            <a:solidFill>
              <a:srgbClr val="0D6EFD"/>
            </a:solidFill>
            <a:prstDash val="solid"/>
          </a:ln>
        </p:spPr>
      </p:sp>
      <p:sp>
        <p:nvSpPr>
          <p:cNvPr id="3" name="Text 1"/>
          <p:cNvSpPr/>
          <p:nvPr/>
        </p:nvSpPr>
        <p:spPr>
          <a:xfrm>
            <a:off x="365760" y="91440"/>
            <a:ext cx="8229600" cy="777240"/>
          </a:xfrm>
          <a:prstGeom prst="rect">
            <a:avLst/>
          </a:prstGeom>
          <a:noFill/>
        </p:spPr>
        <p:txBody>
          <a:bodyPr wrap="square" rtlCol="0" anchor="ctr"/>
          <a:lstStyle/>
          <a:p>
            <a:pPr marL="0" indent="0">
              <a:buNone/>
            </a:pPr>
            <a:r>
              <a:rPr lang="en-US" sz="2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03 — Gestion des Journaux (Logs)</a:t>
            </a:r>
            <a:endParaRPr lang="en-US" sz="2600" dirty="0"/>
          </a:p>
        </p:txBody>
      </p:sp>
      <p:sp>
        <p:nvSpPr>
          <p:cNvPr id="4" name="Shape 2"/>
          <p:cNvSpPr/>
          <p:nvPr/>
        </p:nvSpPr>
        <p:spPr>
          <a:xfrm>
            <a:off x="365760" y="1051560"/>
            <a:ext cx="5029200" cy="1371600"/>
          </a:xfrm>
          <a:prstGeom prst="rect">
            <a:avLst/>
          </a:prstGeom>
          <a:solidFill>
            <a:srgbClr val="E0EAFF"/>
          </a:solidFill>
          <a:ln w="12700">
            <a:solidFill>
              <a:srgbClr val="0D6EFD"/>
            </a:solidFill>
            <a:prstDash val="solid"/>
          </a:ln>
        </p:spPr>
      </p:sp>
      <p:pic>
        <p:nvPicPr>
          <p:cNvPr id="5" name="Image 0" descr="/mnt/user-data/uploads/m.png"/>
          <p:cNvPicPr>
            <a:picLocks noChangeAspect="1"/>
          </p:cNvPicPr>
          <p:nvPr/>
        </p:nvPicPr>
        <p:blipFill>
          <a:blip r:embed="rId1"/>
          <a:srcRect/>
          <a:stretch>
            <a:fillRect/>
          </a:stretch>
        </p:blipFill>
        <p:spPr>
          <a:xfrm>
            <a:off x="365760" y="1051560"/>
            <a:ext cx="5029200" cy="1371600"/>
          </a:xfrm>
          <a:prstGeom prst="rect">
            <a:avLst/>
          </a:prstGeom>
        </p:spPr>
      </p:pic>
      <p:sp>
        <p:nvSpPr>
          <p:cNvPr id="6" name="Shape 3"/>
          <p:cNvSpPr/>
          <p:nvPr/>
        </p:nvSpPr>
        <p:spPr>
          <a:xfrm>
            <a:off x="5577840" y="1051560"/>
            <a:ext cx="3291840" cy="1371600"/>
          </a:xfrm>
          <a:prstGeom prst="rect">
            <a:avLst/>
          </a:prstGeom>
          <a:solidFill>
            <a:srgbClr val="EFF6FF"/>
          </a:solidFill>
          <a:ln w="12700">
            <a:solidFill>
              <a:srgbClr val="0D6EFD"/>
            </a:solidFill>
            <a:prstDash val="solid"/>
          </a:ln>
        </p:spPr>
      </p:sp>
      <p:sp>
        <p:nvSpPr>
          <p:cNvPr id="7" name="Text 4"/>
          <p:cNvSpPr/>
          <p:nvPr/>
        </p:nvSpPr>
        <p:spPr>
          <a:xfrm>
            <a:off x="5669280" y="1097280"/>
            <a:ext cx="3108960" cy="320040"/>
          </a:xfrm>
          <a:prstGeom prst="rect">
            <a:avLst/>
          </a:prstGeom>
          <a:noFill/>
        </p:spPr>
        <p:txBody>
          <a:bodyPr wrap="square" rtlCol="0" anchor="ctr"/>
          <a:lstStyle/>
          <a:p>
            <a:pPr marL="0" indent="0">
              <a:buNone/>
            </a:pPr>
            <a:r>
              <a:rPr lang="en-US" sz="1300" b="1" dirty="0">
                <a:solidFill>
                  <a:srgbClr val="0D6EFD"/>
                </a:solidFill>
              </a:rPr>
              <a:t>Groupe de Journaux</a:t>
            </a:r>
            <a:endParaRPr lang="en-US" sz="1300" dirty="0"/>
          </a:p>
        </p:txBody>
      </p:sp>
      <p:sp>
        <p:nvSpPr>
          <p:cNvPr id="8" name="Text 5"/>
          <p:cNvSpPr/>
          <p:nvPr/>
        </p:nvSpPr>
        <p:spPr>
          <a:xfrm>
            <a:off x="5669280" y="1417320"/>
            <a:ext cx="3108960" cy="960120"/>
          </a:xfrm>
          <a:prstGeom prst="rect">
            <a:avLst/>
          </a:prstGeom>
          <a:noFill/>
        </p:spPr>
        <p:txBody>
          <a:bodyPr wrap="square" rtlCol="0" anchor="ctr"/>
          <a:lstStyle/>
          <a:p>
            <a:pPr marL="0" indent="0">
              <a:buNone/>
            </a:pPr>
            <a:r>
              <a:rPr lang="en-US" sz="1000" dirty="0">
                <a:solidFill>
                  <a:srgbClr val="0A1628"/>
                </a:solidFill>
              </a:rPr>
              <a:t>Un groupe de journaux contient des flux de journaux provenant de vos services AWS.</a:t>
            </a:r>
            <a:endParaRPr lang="en-US" sz="1000" dirty="0"/>
          </a:p>
          <a:p>
            <a:pPr marL="0" indent="0">
              <a:buNone/>
            </a:pPr>
            <a:endParaRPr lang="en-US" sz="1000" dirty="0"/>
          </a:p>
          <a:p>
            <a:pPr marL="0" indent="0">
              <a:buNone/>
            </a:pPr>
            <a:r>
              <a:rPr lang="en-US" sz="1000" dirty="0">
                <a:solidFill>
                  <a:srgbClr val="0A1628"/>
                </a:solidFill>
              </a:rPr>
              <a:t>Exemple : aws-cloudtrail-logs-906446636950-3727d26d</a:t>
            </a:r>
            <a:endParaRPr lang="en-US" sz="1000" dirty="0"/>
          </a:p>
        </p:txBody>
      </p:sp>
      <p:sp>
        <p:nvSpPr>
          <p:cNvPr id="9" name="Shape 6"/>
          <p:cNvSpPr/>
          <p:nvPr/>
        </p:nvSpPr>
        <p:spPr>
          <a:xfrm>
            <a:off x="365760" y="2560320"/>
            <a:ext cx="5029200" cy="1371600"/>
          </a:xfrm>
          <a:prstGeom prst="rect">
            <a:avLst/>
          </a:prstGeom>
          <a:solidFill>
            <a:srgbClr val="E0EAFF"/>
          </a:solidFill>
          <a:ln w="12700">
            <a:solidFill>
              <a:srgbClr val="0D6EFD"/>
            </a:solidFill>
            <a:prstDash val="solid"/>
          </a:ln>
        </p:spPr>
      </p:sp>
      <p:pic>
        <p:nvPicPr>
          <p:cNvPr id="10" name="Image 1" descr="/mnt/user-data/uploads/n.png"/>
          <p:cNvPicPr>
            <a:picLocks noChangeAspect="1"/>
          </p:cNvPicPr>
          <p:nvPr/>
        </p:nvPicPr>
        <p:blipFill>
          <a:blip r:embed="rId2"/>
          <a:srcRect/>
          <a:stretch>
            <a:fillRect/>
          </a:stretch>
        </p:blipFill>
        <p:spPr>
          <a:xfrm>
            <a:off x="365760" y="2560320"/>
            <a:ext cx="5029200" cy="1371600"/>
          </a:xfrm>
          <a:prstGeom prst="rect">
            <a:avLst/>
          </a:prstGeom>
        </p:spPr>
      </p:pic>
      <p:sp>
        <p:nvSpPr>
          <p:cNvPr id="11" name="Shape 7"/>
          <p:cNvSpPr/>
          <p:nvPr/>
        </p:nvSpPr>
        <p:spPr>
          <a:xfrm>
            <a:off x="5577840" y="2560320"/>
            <a:ext cx="3291840" cy="1371600"/>
          </a:xfrm>
          <a:prstGeom prst="rect">
            <a:avLst/>
          </a:prstGeom>
          <a:solidFill>
            <a:srgbClr val="F0FDF4"/>
          </a:solidFill>
          <a:ln w="12700">
            <a:solidFill>
              <a:srgbClr val="00C9A7"/>
            </a:solidFill>
            <a:prstDash val="solid"/>
          </a:ln>
        </p:spPr>
      </p:sp>
      <p:sp>
        <p:nvSpPr>
          <p:cNvPr id="12" name="Text 8"/>
          <p:cNvSpPr/>
          <p:nvPr/>
        </p:nvSpPr>
        <p:spPr>
          <a:xfrm>
            <a:off x="5669280" y="2606040"/>
            <a:ext cx="3108960" cy="320040"/>
          </a:xfrm>
          <a:prstGeom prst="rect">
            <a:avLst/>
          </a:prstGeom>
          <a:noFill/>
        </p:spPr>
        <p:txBody>
          <a:bodyPr wrap="square" rtlCol="0" anchor="ctr"/>
          <a:lstStyle/>
          <a:p>
            <a:pPr marL="0" indent="0">
              <a:buNone/>
            </a:pPr>
            <a:r>
              <a:rPr lang="en-US" sz="1300" b="1" dirty="0">
                <a:solidFill>
                  <a:srgbClr val="00C9A7"/>
                </a:solidFill>
              </a:rPr>
              <a:t>Flux de Journaux</a:t>
            </a:r>
            <a:endParaRPr lang="en-US" sz="1300" dirty="0"/>
          </a:p>
        </p:txBody>
      </p:sp>
      <p:sp>
        <p:nvSpPr>
          <p:cNvPr id="13" name="Text 9"/>
          <p:cNvSpPr/>
          <p:nvPr/>
        </p:nvSpPr>
        <p:spPr>
          <a:xfrm>
            <a:off x="5669280" y="2926080"/>
            <a:ext cx="3108960" cy="960120"/>
          </a:xfrm>
          <a:prstGeom prst="rect">
            <a:avLst/>
          </a:prstGeom>
          <a:noFill/>
        </p:spPr>
        <p:txBody>
          <a:bodyPr wrap="square" rtlCol="0" anchor="ctr"/>
          <a:lstStyle/>
          <a:p>
            <a:pPr marL="0" indent="0">
              <a:buNone/>
            </a:pPr>
            <a:r>
              <a:rPr lang="en-US" sz="1000" dirty="0">
                <a:solidFill>
                  <a:srgbClr val="0A1628"/>
                </a:solidFill>
              </a:rPr>
              <a:t>Les flux contiennent les événements réels avec horodatage.</a:t>
            </a:r>
            <a:endParaRPr lang="en-US" sz="1000" dirty="0"/>
          </a:p>
          <a:p>
            <a:pPr marL="0" indent="0">
              <a:buNone/>
            </a:pPr>
            <a:endParaRPr lang="en-US" sz="1000" dirty="0"/>
          </a:p>
          <a:p>
            <a:pPr marL="0" indent="0">
              <a:buNone/>
            </a:pPr>
            <a:r>
              <a:rPr lang="en-US" sz="1000" dirty="0">
                <a:solidFill>
                  <a:srgbClr val="0A1628"/>
                </a:solidFill>
              </a:rPr>
              <a:t>Ex: 906446636950_CloudTrail_eu-north-1_3</a:t>
            </a:r>
            <a:endParaRPr lang="en-US" sz="1000" dirty="0"/>
          </a:p>
          <a:p>
            <a:pPr marL="0" indent="0">
              <a:buNone/>
            </a:pPr>
            <a:r>
              <a:rPr lang="en-US" sz="1000" dirty="0">
                <a:solidFill>
                  <a:srgbClr val="0A1628"/>
                </a:solidFill>
              </a:rPr>
              <a:t>Date : 2026-03-11</a:t>
            </a:r>
            <a:endParaRPr lang="en-US" sz="1000" dirty="0"/>
          </a:p>
        </p:txBody>
      </p:sp>
      <p:sp>
        <p:nvSpPr>
          <p:cNvPr id="14" name="Shape 10"/>
          <p:cNvSpPr/>
          <p:nvPr/>
        </p:nvSpPr>
        <p:spPr>
          <a:xfrm>
            <a:off x="0" y="4983480"/>
            <a:ext cx="9144000" cy="160020"/>
          </a:xfrm>
          <a:prstGeom prst="rect">
            <a:avLst/>
          </a:prstGeom>
          <a:solidFill>
            <a:srgbClr val="0A1628"/>
          </a:solidFill>
          <a:ln w="12700">
            <a:solidFill>
              <a:srgbClr val="0A1628"/>
            </a:solidFill>
            <a:prstDash val="solid"/>
          </a:ln>
        </p:spPr>
      </p:sp>
      <p:sp>
        <p:nvSpPr>
          <p:cNvPr id="15" name="Text 11"/>
          <p:cNvSpPr/>
          <p:nvPr/>
        </p:nvSpPr>
        <p:spPr>
          <a:xfrm>
            <a:off x="0" y="4983480"/>
            <a:ext cx="9144000" cy="160020"/>
          </a:xfrm>
          <a:prstGeom prst="rect">
            <a:avLst/>
          </a:prstGeom>
          <a:noFill/>
        </p:spPr>
        <p:txBody>
          <a:bodyPr wrap="square" rtlCol="0" anchor="ctr"/>
          <a:lstStyle/>
          <a:p>
            <a:pPr marL="0" indent="0" algn="ctr">
              <a:buNone/>
            </a:pPr>
            <a:r>
              <a:rPr lang="en-US" sz="900" dirty="0">
                <a:solidFill>
                  <a:srgbClr val="8899AA"/>
                </a:solidFill>
              </a:rPr>
              <a:t>Projet : Surveillance des activités de AWS  |  Haye Fall  —  LICC2  —  BEM.ECH</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40AF"/>
          </a:solidFill>
          <a:ln w="12700">
            <a:solidFill>
              <a:srgbClr val="1E40AF"/>
            </a:solidFill>
            <a:prstDash val="solid"/>
          </a:ln>
        </p:spPr>
      </p:sp>
      <p:sp>
        <p:nvSpPr>
          <p:cNvPr id="3" name="Text 1"/>
          <p:cNvSpPr/>
          <p:nvPr/>
        </p:nvSpPr>
        <p:spPr>
          <a:xfrm>
            <a:off x="365760" y="91440"/>
            <a:ext cx="8229600" cy="777240"/>
          </a:xfrm>
          <a:prstGeom prst="rect">
            <a:avLst/>
          </a:prstGeom>
          <a:noFill/>
        </p:spPr>
        <p:txBody>
          <a:bodyPr wrap="square" rtlCol="0" anchor="ctr"/>
          <a:lstStyle/>
          <a:p>
            <a:pPr marL="0" indent="0">
              <a:buNone/>
            </a:pPr>
            <a:r>
              <a:rPr lang="en-US" sz="2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04 — Filtres de Métriques</a:t>
            </a:r>
            <a:endParaRPr lang="en-US" sz="2600" dirty="0"/>
          </a:p>
        </p:txBody>
      </p:sp>
      <p:sp>
        <p:nvSpPr>
          <p:cNvPr id="4" name="Shape 2"/>
          <p:cNvSpPr/>
          <p:nvPr/>
        </p:nvSpPr>
        <p:spPr>
          <a:xfrm>
            <a:off x="365760" y="1051560"/>
            <a:ext cx="2560320" cy="2103120"/>
          </a:xfrm>
          <a:prstGeom prst="rect">
            <a:avLst/>
          </a:prstGeom>
          <a:solidFill>
            <a:srgbClr val="FFFFFF"/>
          </a:solidFill>
          <a:ln w="25400">
            <a:solidFill>
              <a:srgbClr val="0D6EFD"/>
            </a:solidFill>
            <a:prstDash val="solid"/>
          </a:ln>
          <a:effectLst>
            <a:outerShdw blurRad="63500" dist="25400" dir="8100000" algn="bl" rotWithShape="0">
              <a:srgbClr val="000000">
                <a:alpha val="10000"/>
              </a:srgbClr>
            </a:outerShdw>
          </a:effectLst>
        </p:spPr>
      </p:sp>
      <p:sp>
        <p:nvSpPr>
          <p:cNvPr id="5" name="Shape 3"/>
          <p:cNvSpPr/>
          <p:nvPr/>
        </p:nvSpPr>
        <p:spPr>
          <a:xfrm>
            <a:off x="365760" y="1051560"/>
            <a:ext cx="2560320" cy="457200"/>
          </a:xfrm>
          <a:prstGeom prst="rect">
            <a:avLst/>
          </a:prstGeom>
          <a:solidFill>
            <a:srgbClr val="0D6EFD"/>
          </a:solidFill>
          <a:ln w="12700">
            <a:solidFill>
              <a:srgbClr val="0D6EFD"/>
            </a:solidFill>
            <a:prstDash val="solid"/>
          </a:ln>
        </p:spPr>
      </p:sp>
      <p:sp>
        <p:nvSpPr>
          <p:cNvPr id="6" name="Text 4"/>
          <p:cNvSpPr/>
          <p:nvPr/>
        </p:nvSpPr>
        <p:spPr>
          <a:xfrm>
            <a:off x="365760" y="1051560"/>
            <a:ext cx="2560320" cy="457200"/>
          </a:xfrm>
          <a:prstGeom prst="rect">
            <a:avLst/>
          </a:prstGeom>
          <a:noFill/>
        </p:spPr>
        <p:txBody>
          <a:bodyPr wrap="square" rtlCol="0" anchor="ctr"/>
          <a:lstStyle/>
          <a:p>
            <a:pPr marL="0" indent="0" algn="ctr">
              <a:buNone/>
            </a:pPr>
            <a:r>
              <a:rPr lang="en-US" sz="1400" b="1" dirty="0">
                <a:solidFill>
                  <a:srgbClr val="FFFFFF"/>
                </a:solidFill>
              </a:rPr>
              <a:t>Étape 1</a:t>
            </a:r>
            <a:endParaRPr lang="en-US" sz="1400" dirty="0"/>
          </a:p>
        </p:txBody>
      </p:sp>
      <p:sp>
        <p:nvSpPr>
          <p:cNvPr id="7" name="Text 5"/>
          <p:cNvSpPr/>
          <p:nvPr/>
        </p:nvSpPr>
        <p:spPr>
          <a:xfrm>
            <a:off x="457200" y="1554480"/>
            <a:ext cx="2377440" cy="365760"/>
          </a:xfrm>
          <a:prstGeom prst="rect">
            <a:avLst/>
          </a:prstGeom>
          <a:noFill/>
        </p:spPr>
        <p:txBody>
          <a:bodyPr wrap="square" rtlCol="0" anchor="ctr"/>
          <a:lstStyle/>
          <a:p>
            <a:pPr marL="0" indent="0">
              <a:buNone/>
            </a:pPr>
            <a:r>
              <a:rPr lang="en-US" sz="1200" b="1" dirty="0">
                <a:solidFill>
                  <a:srgbClr val="0D6EFD"/>
                </a:solidFill>
                <a:latin typeface="Calibri" panose="020F0502020204030204" pitchFamily="34" charset="0"/>
                <a:ea typeface="Calibri" panose="020F0502020204030204" pitchFamily="34" charset="-122"/>
                <a:cs typeface="Calibri" panose="020F0502020204030204" pitchFamily="34" charset="-120"/>
              </a:rPr>
              <a:t>Définir un Modèle</a:t>
            </a:r>
            <a:endParaRPr lang="en-US" sz="1200" dirty="0"/>
          </a:p>
        </p:txBody>
      </p:sp>
      <p:sp>
        <p:nvSpPr>
          <p:cNvPr id="8" name="Text 6"/>
          <p:cNvSpPr/>
          <p:nvPr/>
        </p:nvSpPr>
        <p:spPr>
          <a:xfrm>
            <a:off x="457200" y="1920240"/>
            <a:ext cx="2377440" cy="1188720"/>
          </a:xfrm>
          <a:prstGeom prst="rect">
            <a:avLst/>
          </a:prstGeom>
          <a:noFill/>
        </p:spPr>
        <p:txBody>
          <a:bodyPr wrap="square" rtlCol="0" anchor="ctr"/>
          <a:lstStyle/>
          <a:p>
            <a:pPr marL="0" indent="0">
              <a:buNone/>
            </a:pPr>
            <a:r>
              <a:rPr lang="en-US" sz="1000" dirty="0">
                <a:solidFill>
                  <a:srgbClr val="0A1628"/>
                </a:solidFill>
                <a:latin typeface="Calibri" panose="020F0502020204030204" pitchFamily="34" charset="0"/>
                <a:ea typeface="Calibri" panose="020F0502020204030204" pitchFamily="34" charset="-122"/>
                <a:cs typeface="Calibri" panose="020F0502020204030204" pitchFamily="34" charset="-120"/>
              </a:rPr>
              <a:t>Saisir le filtre d'événements</a:t>
            </a:r>
            <a:endParaRPr lang="en-US" sz="1000" dirty="0"/>
          </a:p>
          <a:p>
            <a:pPr marL="0" indent="0">
              <a:buNone/>
            </a:pPr>
            <a:r>
              <a:rPr lang="en-US" sz="1000" dirty="0">
                <a:solidFill>
                  <a:srgbClr val="0A1628"/>
                </a:solidFill>
                <a:latin typeface="Calibri" panose="020F0502020204030204" pitchFamily="34" charset="0"/>
                <a:ea typeface="Calibri" panose="020F0502020204030204" pitchFamily="34" charset="-122"/>
                <a:cs typeface="Calibri" panose="020F0502020204030204" pitchFamily="34" charset="-120"/>
              </a:rPr>
              <a:t>Ex: { $.eventName = "AuthorizeSecurityGroupIngress" }</a:t>
            </a:r>
            <a:endParaRPr lang="en-US" sz="1000" dirty="0"/>
          </a:p>
        </p:txBody>
      </p:sp>
      <p:sp>
        <p:nvSpPr>
          <p:cNvPr id="9" name="Shape 7"/>
          <p:cNvSpPr/>
          <p:nvPr/>
        </p:nvSpPr>
        <p:spPr>
          <a:xfrm>
            <a:off x="3200400" y="1051560"/>
            <a:ext cx="2560320" cy="2103120"/>
          </a:xfrm>
          <a:prstGeom prst="rect">
            <a:avLst/>
          </a:prstGeom>
          <a:solidFill>
            <a:srgbClr val="FFFFFF"/>
          </a:solidFill>
          <a:ln w="25400">
            <a:solidFill>
              <a:srgbClr val="00C9A7"/>
            </a:solidFill>
            <a:prstDash val="solid"/>
          </a:ln>
          <a:effectLst>
            <a:outerShdw blurRad="63500" dist="25400" dir="8100000" algn="bl" rotWithShape="0">
              <a:srgbClr val="000000">
                <a:alpha val="10000"/>
              </a:srgbClr>
            </a:outerShdw>
          </a:effectLst>
        </p:spPr>
      </p:sp>
      <p:sp>
        <p:nvSpPr>
          <p:cNvPr id="10" name="Shape 8"/>
          <p:cNvSpPr/>
          <p:nvPr/>
        </p:nvSpPr>
        <p:spPr>
          <a:xfrm>
            <a:off x="3200400" y="1051560"/>
            <a:ext cx="2560320" cy="457200"/>
          </a:xfrm>
          <a:prstGeom prst="rect">
            <a:avLst/>
          </a:prstGeom>
          <a:solidFill>
            <a:srgbClr val="00C9A7"/>
          </a:solidFill>
          <a:ln w="12700">
            <a:solidFill>
              <a:srgbClr val="00C9A7"/>
            </a:solidFill>
            <a:prstDash val="solid"/>
          </a:ln>
        </p:spPr>
      </p:sp>
      <p:sp>
        <p:nvSpPr>
          <p:cNvPr id="11" name="Text 9"/>
          <p:cNvSpPr/>
          <p:nvPr/>
        </p:nvSpPr>
        <p:spPr>
          <a:xfrm>
            <a:off x="3200400" y="1051560"/>
            <a:ext cx="2560320" cy="457200"/>
          </a:xfrm>
          <a:prstGeom prst="rect">
            <a:avLst/>
          </a:prstGeom>
          <a:noFill/>
        </p:spPr>
        <p:txBody>
          <a:bodyPr wrap="square" rtlCol="0" anchor="ctr"/>
          <a:lstStyle/>
          <a:p>
            <a:pPr marL="0" indent="0" algn="ctr">
              <a:buNone/>
            </a:pPr>
            <a:r>
              <a:rPr lang="en-US" sz="1400" b="1" dirty="0">
                <a:solidFill>
                  <a:srgbClr val="FFFFFF"/>
                </a:solidFill>
              </a:rPr>
              <a:t>Étape 2</a:t>
            </a:r>
            <a:endParaRPr lang="en-US" sz="1400" dirty="0"/>
          </a:p>
        </p:txBody>
      </p:sp>
      <p:sp>
        <p:nvSpPr>
          <p:cNvPr id="12" name="Text 10"/>
          <p:cNvSpPr/>
          <p:nvPr/>
        </p:nvSpPr>
        <p:spPr>
          <a:xfrm>
            <a:off x="3291840" y="1554480"/>
            <a:ext cx="2377440" cy="365760"/>
          </a:xfrm>
          <a:prstGeom prst="rect">
            <a:avLst/>
          </a:prstGeom>
          <a:noFill/>
        </p:spPr>
        <p:txBody>
          <a:bodyPr wrap="square" rtlCol="0" anchor="ctr"/>
          <a:lstStyle/>
          <a:p>
            <a:pPr marL="0" indent="0">
              <a:buNone/>
            </a:pPr>
            <a:r>
              <a:rPr lang="en-US" sz="1200" b="1" dirty="0">
                <a:solidFill>
                  <a:srgbClr val="00C9A7"/>
                </a:solidFill>
                <a:latin typeface="Calibri" panose="020F0502020204030204" pitchFamily="34" charset="0"/>
                <a:ea typeface="Calibri" panose="020F0502020204030204" pitchFamily="34" charset="-122"/>
                <a:cs typeface="Calibri" panose="020F0502020204030204" pitchFamily="34" charset="-120"/>
              </a:rPr>
              <a:t>Affecter une Métrique</a:t>
            </a:r>
            <a:endParaRPr lang="en-US" sz="1200" dirty="0"/>
          </a:p>
        </p:txBody>
      </p:sp>
      <p:sp>
        <p:nvSpPr>
          <p:cNvPr id="13" name="Text 11"/>
          <p:cNvSpPr/>
          <p:nvPr/>
        </p:nvSpPr>
        <p:spPr>
          <a:xfrm>
            <a:off x="3291840" y="1920240"/>
            <a:ext cx="2377440" cy="1188720"/>
          </a:xfrm>
          <a:prstGeom prst="rect">
            <a:avLst/>
          </a:prstGeom>
          <a:noFill/>
        </p:spPr>
        <p:txBody>
          <a:bodyPr wrap="square" rtlCol="0" anchor="ctr"/>
          <a:lstStyle/>
          <a:p>
            <a:pPr marL="0" indent="0">
              <a:buNone/>
            </a:pPr>
            <a:r>
              <a:rPr lang="en-US" sz="1000" dirty="0">
                <a:solidFill>
                  <a:srgbClr val="0A1628"/>
                </a:solidFill>
                <a:latin typeface="Calibri" panose="020F0502020204030204" pitchFamily="34" charset="0"/>
                <a:ea typeface="Calibri" panose="020F0502020204030204" pitchFamily="34" charset="-122"/>
                <a:cs typeface="Calibri" panose="020F0502020204030204" pitchFamily="34" charset="-120"/>
              </a:rPr>
              <a:t>Nommer la métrique</a:t>
            </a:r>
            <a:endParaRPr lang="en-US" sz="1000" dirty="0"/>
          </a:p>
          <a:p>
            <a:pPr marL="0" indent="0">
              <a:buNone/>
            </a:pPr>
            <a:r>
              <a:rPr lang="en-US" sz="1000" dirty="0">
                <a:solidFill>
                  <a:srgbClr val="0A1628"/>
                </a:solidFill>
                <a:latin typeface="Calibri" panose="020F0502020204030204" pitchFamily="34" charset="0"/>
                <a:ea typeface="Calibri" panose="020F0502020204030204" pitchFamily="34" charset="-122"/>
                <a:cs typeface="Calibri" panose="020F0502020204030204" pitchFamily="34" charset="-120"/>
              </a:rPr>
              <a:t>Ex: ModifRessourcesCritiques → ModificationCount</a:t>
            </a:r>
            <a:endParaRPr lang="en-US" sz="1000" dirty="0"/>
          </a:p>
        </p:txBody>
      </p:sp>
      <p:sp>
        <p:nvSpPr>
          <p:cNvPr id="14" name="Shape 12"/>
          <p:cNvSpPr/>
          <p:nvPr/>
        </p:nvSpPr>
        <p:spPr>
          <a:xfrm>
            <a:off x="6035040" y="1051560"/>
            <a:ext cx="2560320" cy="2103120"/>
          </a:xfrm>
          <a:prstGeom prst="rect">
            <a:avLst/>
          </a:prstGeom>
          <a:solidFill>
            <a:srgbClr val="FFFFFF"/>
          </a:solidFill>
          <a:ln w="25400">
            <a:solidFill>
              <a:srgbClr val="FF6B35"/>
            </a:solidFill>
            <a:prstDash val="solid"/>
          </a:ln>
          <a:effectLst>
            <a:outerShdw blurRad="63500" dist="25400" dir="8100000" algn="bl" rotWithShape="0">
              <a:srgbClr val="000000">
                <a:alpha val="10000"/>
              </a:srgbClr>
            </a:outerShdw>
          </a:effectLst>
        </p:spPr>
      </p:sp>
      <p:sp>
        <p:nvSpPr>
          <p:cNvPr id="15" name="Shape 13"/>
          <p:cNvSpPr/>
          <p:nvPr/>
        </p:nvSpPr>
        <p:spPr>
          <a:xfrm>
            <a:off x="6035040" y="1051560"/>
            <a:ext cx="2560320" cy="457200"/>
          </a:xfrm>
          <a:prstGeom prst="rect">
            <a:avLst/>
          </a:prstGeom>
          <a:solidFill>
            <a:srgbClr val="FF6B35"/>
          </a:solidFill>
          <a:ln w="12700">
            <a:solidFill>
              <a:srgbClr val="FF6B35"/>
            </a:solidFill>
            <a:prstDash val="solid"/>
          </a:ln>
        </p:spPr>
      </p:sp>
      <p:sp>
        <p:nvSpPr>
          <p:cNvPr id="16" name="Text 14"/>
          <p:cNvSpPr/>
          <p:nvPr/>
        </p:nvSpPr>
        <p:spPr>
          <a:xfrm>
            <a:off x="6035040" y="1051560"/>
            <a:ext cx="2560320" cy="457200"/>
          </a:xfrm>
          <a:prstGeom prst="rect">
            <a:avLst/>
          </a:prstGeom>
          <a:noFill/>
        </p:spPr>
        <p:txBody>
          <a:bodyPr wrap="square" rtlCol="0" anchor="ctr"/>
          <a:lstStyle/>
          <a:p>
            <a:pPr marL="0" indent="0" algn="ctr">
              <a:buNone/>
            </a:pPr>
            <a:r>
              <a:rPr lang="en-US" sz="1400" b="1" dirty="0">
                <a:solidFill>
                  <a:srgbClr val="FFFFFF"/>
                </a:solidFill>
              </a:rPr>
              <a:t>Étape 3</a:t>
            </a:r>
            <a:endParaRPr lang="en-US" sz="1400" dirty="0"/>
          </a:p>
        </p:txBody>
      </p:sp>
      <p:sp>
        <p:nvSpPr>
          <p:cNvPr id="17" name="Text 15"/>
          <p:cNvSpPr/>
          <p:nvPr/>
        </p:nvSpPr>
        <p:spPr>
          <a:xfrm>
            <a:off x="6126480" y="1554480"/>
            <a:ext cx="2377440" cy="365760"/>
          </a:xfrm>
          <a:prstGeom prst="rect">
            <a:avLst/>
          </a:prstGeom>
          <a:noFill/>
        </p:spPr>
        <p:txBody>
          <a:bodyPr wrap="square" rtlCol="0" anchor="ctr"/>
          <a:lstStyle/>
          <a:p>
            <a:pPr marL="0" indent="0">
              <a:buNone/>
            </a:pPr>
            <a:r>
              <a:rPr lang="en-US" sz="1200" b="1" dirty="0">
                <a:solidFill>
                  <a:srgbClr val="FF6B35"/>
                </a:solidFill>
                <a:latin typeface="Calibri" panose="020F0502020204030204" pitchFamily="34" charset="0"/>
                <a:ea typeface="Calibri" panose="020F0502020204030204" pitchFamily="34" charset="-122"/>
                <a:cs typeface="Calibri" panose="020F0502020204030204" pitchFamily="34" charset="-120"/>
              </a:rPr>
              <a:t>Vérifier &amp; Créer</a:t>
            </a:r>
            <a:endParaRPr lang="en-US" sz="1200" dirty="0"/>
          </a:p>
        </p:txBody>
      </p:sp>
      <p:sp>
        <p:nvSpPr>
          <p:cNvPr id="18" name="Text 16"/>
          <p:cNvSpPr/>
          <p:nvPr/>
        </p:nvSpPr>
        <p:spPr>
          <a:xfrm>
            <a:off x="6126480" y="1920240"/>
            <a:ext cx="2377440" cy="1188720"/>
          </a:xfrm>
          <a:prstGeom prst="rect">
            <a:avLst/>
          </a:prstGeom>
          <a:noFill/>
        </p:spPr>
        <p:txBody>
          <a:bodyPr wrap="square" rtlCol="0" anchor="ctr"/>
          <a:lstStyle/>
          <a:p>
            <a:pPr marL="0" indent="0">
              <a:buNone/>
            </a:pPr>
            <a:r>
              <a:rPr lang="en-US" sz="1000" dirty="0">
                <a:solidFill>
                  <a:srgbClr val="0A1628"/>
                </a:solidFill>
                <a:latin typeface="Calibri" panose="020F0502020204030204" pitchFamily="34" charset="0"/>
                <a:ea typeface="Calibri" panose="020F0502020204030204" pitchFamily="34" charset="-122"/>
                <a:cs typeface="Calibri" panose="020F0502020204030204" pitchFamily="34" charset="-120"/>
              </a:rPr>
              <a:t>Réviser les paramètres et confirmer la création du filtre</a:t>
            </a:r>
            <a:endParaRPr lang="en-US" sz="1000" dirty="0"/>
          </a:p>
        </p:txBody>
      </p:sp>
      <p:sp>
        <p:nvSpPr>
          <p:cNvPr id="19" name="Shape 17"/>
          <p:cNvSpPr/>
          <p:nvPr/>
        </p:nvSpPr>
        <p:spPr>
          <a:xfrm>
            <a:off x="2926080" y="2103120"/>
            <a:ext cx="274320" cy="0"/>
          </a:xfrm>
          <a:prstGeom prst="line">
            <a:avLst/>
          </a:prstGeom>
          <a:noFill/>
          <a:ln w="25400">
            <a:solidFill>
              <a:srgbClr val="64748B"/>
            </a:solidFill>
            <a:prstDash val="solid"/>
          </a:ln>
        </p:spPr>
      </p:sp>
      <p:sp>
        <p:nvSpPr>
          <p:cNvPr id="20" name="Shape 18"/>
          <p:cNvSpPr/>
          <p:nvPr/>
        </p:nvSpPr>
        <p:spPr>
          <a:xfrm>
            <a:off x="5760720" y="2103120"/>
            <a:ext cx="274320" cy="0"/>
          </a:xfrm>
          <a:prstGeom prst="line">
            <a:avLst/>
          </a:prstGeom>
          <a:noFill/>
          <a:ln w="25400">
            <a:solidFill>
              <a:srgbClr val="64748B"/>
            </a:solidFill>
            <a:prstDash val="solid"/>
          </a:ln>
        </p:spPr>
      </p:sp>
      <p:sp>
        <p:nvSpPr>
          <p:cNvPr id="21" name="Shape 19"/>
          <p:cNvSpPr/>
          <p:nvPr/>
        </p:nvSpPr>
        <p:spPr>
          <a:xfrm>
            <a:off x="365760" y="3337560"/>
            <a:ext cx="8412480" cy="914400"/>
          </a:xfrm>
          <a:prstGeom prst="rect">
            <a:avLst/>
          </a:prstGeom>
          <a:solidFill>
            <a:srgbClr val="F0FDF4"/>
          </a:solidFill>
          <a:ln w="12700">
            <a:solidFill>
              <a:srgbClr val="00C9A7"/>
            </a:solidFill>
            <a:prstDash val="solid"/>
          </a:ln>
        </p:spPr>
      </p:sp>
      <p:sp>
        <p:nvSpPr>
          <p:cNvPr id="22" name="Text 20"/>
          <p:cNvSpPr/>
          <p:nvPr/>
        </p:nvSpPr>
        <p:spPr>
          <a:xfrm>
            <a:off x="548640" y="3401568"/>
            <a:ext cx="1828800" cy="320040"/>
          </a:xfrm>
          <a:prstGeom prst="rect">
            <a:avLst/>
          </a:prstGeom>
          <a:noFill/>
        </p:spPr>
        <p:txBody>
          <a:bodyPr wrap="square" rtlCol="0" anchor="ctr"/>
          <a:lstStyle/>
          <a:p>
            <a:pPr marL="0" indent="0">
              <a:buNone/>
            </a:pPr>
            <a:r>
              <a:rPr lang="en-US" sz="1300" b="1" dirty="0">
                <a:solidFill>
                  <a:srgbClr val="00C9A7"/>
                </a:solidFill>
              </a:rPr>
              <a:t>✅  Résultat :</a:t>
            </a:r>
            <a:endParaRPr lang="en-US" sz="1300" dirty="0"/>
          </a:p>
        </p:txBody>
      </p:sp>
      <p:sp>
        <p:nvSpPr>
          <p:cNvPr id="23" name="Text 21"/>
          <p:cNvSpPr/>
          <p:nvPr/>
        </p:nvSpPr>
        <p:spPr>
          <a:xfrm>
            <a:off x="2286000" y="3383280"/>
            <a:ext cx="6400800" cy="822960"/>
          </a:xfrm>
          <a:prstGeom prst="rect">
            <a:avLst/>
          </a:prstGeom>
          <a:noFill/>
        </p:spPr>
        <p:txBody>
          <a:bodyPr wrap="square" rtlCol="0" anchor="ctr"/>
          <a:lstStyle/>
          <a:p>
            <a:pPr marL="0" indent="0">
              <a:buNone/>
            </a:pPr>
            <a:r>
              <a:rPr lang="en-US" sz="1100" dirty="0">
                <a:solidFill>
                  <a:srgbClr val="0A1628"/>
                </a:solidFill>
              </a:rPr>
              <a:t>Le filtre "AlerteModificationsCritiques" a été créé avec succès. Il surveille les événements: AuthorizeSecurityGroupIngress | PutUserPolicy | CreateUser.</a:t>
            </a:r>
            <a:endParaRPr lang="en-US" sz="1100" dirty="0"/>
          </a:p>
        </p:txBody>
      </p:sp>
      <p:sp>
        <p:nvSpPr>
          <p:cNvPr id="24" name="Shape 22"/>
          <p:cNvSpPr/>
          <p:nvPr/>
        </p:nvSpPr>
        <p:spPr>
          <a:xfrm>
            <a:off x="365760" y="4343400"/>
            <a:ext cx="8412480" cy="548640"/>
          </a:xfrm>
          <a:prstGeom prst="rect">
            <a:avLst/>
          </a:prstGeom>
          <a:solidFill>
            <a:srgbClr val="EFF6FF"/>
          </a:solidFill>
          <a:ln w="12700">
            <a:solidFill>
              <a:srgbClr val="0D6EFD"/>
            </a:solidFill>
            <a:prstDash val="solid"/>
          </a:ln>
        </p:spPr>
      </p:sp>
      <p:sp>
        <p:nvSpPr>
          <p:cNvPr id="25" name="Text 23"/>
          <p:cNvSpPr/>
          <p:nvPr/>
        </p:nvSpPr>
        <p:spPr>
          <a:xfrm>
            <a:off x="548640" y="4370832"/>
            <a:ext cx="8046720" cy="502920"/>
          </a:xfrm>
          <a:prstGeom prst="rect">
            <a:avLst/>
          </a:prstGeom>
          <a:noFill/>
        </p:spPr>
        <p:txBody>
          <a:bodyPr wrap="square" rtlCol="0" anchor="ctr"/>
          <a:lstStyle/>
          <a:p>
            <a:pPr marL="0" indent="0">
              <a:buNone/>
            </a:pPr>
            <a:r>
              <a:rPr lang="en-US" sz="1100" b="1" dirty="0">
                <a:solidFill>
                  <a:srgbClr val="0D6EFD"/>
                </a:solidFill>
              </a:rPr>
              <a:t>Espace de noms : </a:t>
            </a:r>
            <a:r>
              <a:rPr lang="en-US" sz="1100" dirty="0">
                <a:solidFill>
                  <a:srgbClr val="0A1628"/>
                </a:solidFill>
              </a:rPr>
              <a:t>CloudTrailLogMetrics  |  </a:t>
            </a:r>
            <a:r>
              <a:rPr lang="en-US" sz="1100" b="1" dirty="0">
                <a:solidFill>
                  <a:srgbClr val="0D6EFD"/>
                </a:solidFill>
              </a:rPr>
              <a:t>Nom du filtre : </a:t>
            </a:r>
            <a:r>
              <a:rPr lang="en-US" sz="1100" dirty="0">
                <a:solidFill>
                  <a:srgbClr val="0A1628"/>
                </a:solidFill>
              </a:rPr>
              <a:t>ModifRessourcesCritiques  |  </a:t>
            </a:r>
            <a:r>
              <a:rPr lang="en-US" sz="1100" b="1" dirty="0">
                <a:solidFill>
                  <a:srgbClr val="0D6EFD"/>
                </a:solidFill>
              </a:rPr>
              <a:t>Valeur : </a:t>
            </a:r>
            <a:r>
              <a:rPr lang="en-US" sz="1100" dirty="0">
                <a:solidFill>
                  <a:srgbClr val="0A1628"/>
                </a:solidFill>
              </a:rPr>
              <a:t>1 par événement</a:t>
            </a:r>
            <a:endParaRPr lang="en-US" sz="1100" dirty="0"/>
          </a:p>
        </p:txBody>
      </p:sp>
      <p:sp>
        <p:nvSpPr>
          <p:cNvPr id="26" name="Shape 24"/>
          <p:cNvSpPr/>
          <p:nvPr/>
        </p:nvSpPr>
        <p:spPr>
          <a:xfrm>
            <a:off x="0" y="4983480"/>
            <a:ext cx="9144000" cy="160020"/>
          </a:xfrm>
          <a:prstGeom prst="rect">
            <a:avLst/>
          </a:prstGeom>
          <a:solidFill>
            <a:srgbClr val="0A1628"/>
          </a:solidFill>
          <a:ln w="12700">
            <a:solidFill>
              <a:srgbClr val="0A1628"/>
            </a:solidFill>
            <a:prstDash val="solid"/>
          </a:ln>
        </p:spPr>
      </p:sp>
      <p:sp>
        <p:nvSpPr>
          <p:cNvPr id="27" name="Text 25"/>
          <p:cNvSpPr/>
          <p:nvPr/>
        </p:nvSpPr>
        <p:spPr>
          <a:xfrm>
            <a:off x="0" y="4983480"/>
            <a:ext cx="9144000" cy="160020"/>
          </a:xfrm>
          <a:prstGeom prst="rect">
            <a:avLst/>
          </a:prstGeom>
          <a:noFill/>
        </p:spPr>
        <p:txBody>
          <a:bodyPr wrap="square" rtlCol="0" anchor="ctr"/>
          <a:lstStyle/>
          <a:p>
            <a:pPr marL="0" indent="0" algn="ctr">
              <a:buNone/>
            </a:pPr>
            <a:r>
              <a:rPr lang="en-US" sz="900" dirty="0">
                <a:solidFill>
                  <a:srgbClr val="8899AA"/>
                </a:solidFill>
              </a:rPr>
              <a:t>Projet : Surveillance des activités de AWS  |  Haye Fall  —  LICC2  —  BEM.ECH</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6B35"/>
          </a:solidFill>
          <a:ln w="12700">
            <a:solidFill>
              <a:srgbClr val="FF6B35"/>
            </a:solidFill>
            <a:prstDash val="solid"/>
          </a:ln>
        </p:spPr>
      </p:sp>
      <p:sp>
        <p:nvSpPr>
          <p:cNvPr id="3" name="Text 1"/>
          <p:cNvSpPr/>
          <p:nvPr/>
        </p:nvSpPr>
        <p:spPr>
          <a:xfrm>
            <a:off x="365760" y="91440"/>
            <a:ext cx="8229600" cy="777240"/>
          </a:xfrm>
          <a:prstGeom prst="rect">
            <a:avLst/>
          </a:prstGeom>
          <a:noFill/>
        </p:spPr>
        <p:txBody>
          <a:bodyPr wrap="square" rtlCol="0" anchor="ctr"/>
          <a:lstStyle/>
          <a:p>
            <a:pPr marL="0" indent="0">
              <a:buNone/>
            </a:pPr>
            <a:r>
              <a:rPr lang="en-US" sz="2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05 — Création d'Alarmes CloudWatch</a:t>
            </a:r>
            <a:endParaRPr lang="en-US" sz="2600" dirty="0"/>
          </a:p>
        </p:txBody>
      </p:sp>
      <p:sp>
        <p:nvSpPr>
          <p:cNvPr id="4" name="Shape 2"/>
          <p:cNvSpPr/>
          <p:nvPr/>
        </p:nvSpPr>
        <p:spPr>
          <a:xfrm>
            <a:off x="228600" y="1051560"/>
            <a:ext cx="1965960" cy="2560320"/>
          </a:xfrm>
          <a:prstGeom prst="rect">
            <a:avLst/>
          </a:prstGeom>
          <a:solidFill>
            <a:srgbClr val="FFFFFF"/>
          </a:solidFill>
          <a:ln w="25400">
            <a:solidFill>
              <a:srgbClr val="0D6EFD"/>
            </a:solidFill>
            <a:prstDash val="solid"/>
          </a:ln>
        </p:spPr>
      </p:sp>
      <p:sp>
        <p:nvSpPr>
          <p:cNvPr id="5" name="Shape 3"/>
          <p:cNvSpPr/>
          <p:nvPr/>
        </p:nvSpPr>
        <p:spPr>
          <a:xfrm>
            <a:off x="228600" y="1051560"/>
            <a:ext cx="1965960" cy="411480"/>
          </a:xfrm>
          <a:prstGeom prst="rect">
            <a:avLst/>
          </a:prstGeom>
          <a:solidFill>
            <a:srgbClr val="0D6EFD"/>
          </a:solidFill>
          <a:ln w="12700">
            <a:solidFill>
              <a:srgbClr val="0D6EFD"/>
            </a:solidFill>
            <a:prstDash val="solid"/>
          </a:ln>
        </p:spPr>
      </p:sp>
      <p:sp>
        <p:nvSpPr>
          <p:cNvPr id="6" name="Text 4"/>
          <p:cNvSpPr/>
          <p:nvPr/>
        </p:nvSpPr>
        <p:spPr>
          <a:xfrm>
            <a:off x="228600" y="1051560"/>
            <a:ext cx="1965960" cy="411480"/>
          </a:xfrm>
          <a:prstGeom prst="rect">
            <a:avLst/>
          </a:prstGeom>
          <a:noFill/>
        </p:spPr>
        <p:txBody>
          <a:bodyPr wrap="square" rtlCol="0" anchor="ctr"/>
          <a:lstStyle/>
          <a:p>
            <a:pPr marL="0" indent="0" algn="ctr">
              <a:buNone/>
            </a:pPr>
            <a:r>
              <a:rPr lang="en-US" sz="1200" b="1" dirty="0">
                <a:solidFill>
                  <a:srgbClr val="FFFFFF"/>
                </a:solidFill>
              </a:rPr>
              <a:t>Étape 1</a:t>
            </a:r>
            <a:endParaRPr lang="en-US" sz="1200" dirty="0"/>
          </a:p>
        </p:txBody>
      </p:sp>
      <p:sp>
        <p:nvSpPr>
          <p:cNvPr id="7" name="Text 5"/>
          <p:cNvSpPr/>
          <p:nvPr/>
        </p:nvSpPr>
        <p:spPr>
          <a:xfrm>
            <a:off x="320040" y="1508760"/>
            <a:ext cx="1783080" cy="365760"/>
          </a:xfrm>
          <a:prstGeom prst="rect">
            <a:avLst/>
          </a:prstGeom>
          <a:noFill/>
        </p:spPr>
        <p:txBody>
          <a:bodyPr wrap="square" rtlCol="0" anchor="ctr"/>
          <a:lstStyle/>
          <a:p>
            <a:pPr marL="0" indent="0">
              <a:buNone/>
            </a:pPr>
            <a:r>
              <a:rPr lang="en-US" sz="1100" b="1" dirty="0">
                <a:solidFill>
                  <a:srgbClr val="0D6EFD"/>
                </a:solidFill>
              </a:rPr>
              <a:t>Métrique &amp; Conditions</a:t>
            </a:r>
            <a:endParaRPr lang="en-US" sz="1100" dirty="0"/>
          </a:p>
        </p:txBody>
      </p:sp>
      <p:sp>
        <p:nvSpPr>
          <p:cNvPr id="8" name="Text 6"/>
          <p:cNvSpPr/>
          <p:nvPr/>
        </p:nvSpPr>
        <p:spPr>
          <a:xfrm>
            <a:off x="320040" y="1874520"/>
            <a:ext cx="1783080" cy="1691640"/>
          </a:xfrm>
          <a:prstGeom prst="rect">
            <a:avLst/>
          </a:prstGeom>
          <a:noFill/>
        </p:spPr>
        <p:txBody>
          <a:bodyPr wrap="square" rtlCol="0" anchor="ctr"/>
          <a:lstStyle/>
          <a:p>
            <a:pPr marL="0" indent="0">
              <a:buNone/>
            </a:pPr>
            <a:r>
              <a:rPr lang="en-US" sz="950" dirty="0">
                <a:solidFill>
                  <a:srgbClr val="0A1628"/>
                </a:solidFill>
              </a:rPr>
              <a:t>Métrique : CompteurModifs</a:t>
            </a:r>
            <a:endParaRPr lang="en-US" sz="950" dirty="0"/>
          </a:p>
          <a:p>
            <a:pPr marL="0" indent="0">
              <a:buNone/>
            </a:pPr>
            <a:r>
              <a:rPr lang="en-US" sz="950" dirty="0">
                <a:solidFill>
                  <a:srgbClr val="0A1628"/>
                </a:solidFill>
              </a:rPr>
              <a:t>Statistique : Somme</a:t>
            </a:r>
            <a:endParaRPr lang="en-US" sz="950" dirty="0"/>
          </a:p>
          <a:p>
            <a:pPr marL="0" indent="0">
              <a:buNone/>
            </a:pPr>
            <a:r>
              <a:rPr lang="en-US" sz="950" dirty="0">
                <a:solidFill>
                  <a:srgbClr val="0A1628"/>
                </a:solidFill>
              </a:rPr>
              <a:t>Période : 5 min</a:t>
            </a:r>
            <a:endParaRPr lang="en-US" sz="950" dirty="0"/>
          </a:p>
          <a:p>
            <a:pPr marL="0" indent="0">
              <a:buNone/>
            </a:pPr>
            <a:r>
              <a:rPr lang="en-US" sz="950" dirty="0">
                <a:solidFill>
                  <a:srgbClr val="0A1628"/>
                </a:solidFill>
              </a:rPr>
              <a:t>Seuil : Supérieur à 10002</a:t>
            </a:r>
            <a:endParaRPr lang="en-US" sz="950" dirty="0"/>
          </a:p>
        </p:txBody>
      </p:sp>
      <p:sp>
        <p:nvSpPr>
          <p:cNvPr id="9" name="Shape 7"/>
          <p:cNvSpPr/>
          <p:nvPr/>
        </p:nvSpPr>
        <p:spPr>
          <a:xfrm>
            <a:off x="2404872" y="1051560"/>
            <a:ext cx="1965960" cy="2560320"/>
          </a:xfrm>
          <a:prstGeom prst="rect">
            <a:avLst/>
          </a:prstGeom>
          <a:solidFill>
            <a:srgbClr val="FFFFFF"/>
          </a:solidFill>
          <a:ln w="25400">
            <a:solidFill>
              <a:srgbClr val="00C9A7"/>
            </a:solidFill>
            <a:prstDash val="solid"/>
          </a:ln>
        </p:spPr>
      </p:sp>
      <p:sp>
        <p:nvSpPr>
          <p:cNvPr id="10" name="Shape 8"/>
          <p:cNvSpPr/>
          <p:nvPr/>
        </p:nvSpPr>
        <p:spPr>
          <a:xfrm>
            <a:off x="2404872" y="1051560"/>
            <a:ext cx="1965960" cy="411480"/>
          </a:xfrm>
          <a:prstGeom prst="rect">
            <a:avLst/>
          </a:prstGeom>
          <a:solidFill>
            <a:srgbClr val="00C9A7"/>
          </a:solidFill>
          <a:ln w="12700">
            <a:solidFill>
              <a:srgbClr val="00C9A7"/>
            </a:solidFill>
            <a:prstDash val="solid"/>
          </a:ln>
        </p:spPr>
      </p:sp>
      <p:sp>
        <p:nvSpPr>
          <p:cNvPr id="11" name="Text 9"/>
          <p:cNvSpPr/>
          <p:nvPr/>
        </p:nvSpPr>
        <p:spPr>
          <a:xfrm>
            <a:off x="2404872" y="1051560"/>
            <a:ext cx="1965960" cy="411480"/>
          </a:xfrm>
          <a:prstGeom prst="rect">
            <a:avLst/>
          </a:prstGeom>
          <a:noFill/>
        </p:spPr>
        <p:txBody>
          <a:bodyPr wrap="square" rtlCol="0" anchor="ctr"/>
          <a:lstStyle/>
          <a:p>
            <a:pPr marL="0" indent="0" algn="ctr">
              <a:buNone/>
            </a:pPr>
            <a:r>
              <a:rPr lang="en-US" sz="1200" b="1" dirty="0">
                <a:solidFill>
                  <a:srgbClr val="FFFFFF"/>
                </a:solidFill>
              </a:rPr>
              <a:t>Étape 2</a:t>
            </a:r>
            <a:endParaRPr lang="en-US" sz="1200" dirty="0"/>
          </a:p>
        </p:txBody>
      </p:sp>
      <p:sp>
        <p:nvSpPr>
          <p:cNvPr id="12" name="Text 10"/>
          <p:cNvSpPr/>
          <p:nvPr/>
        </p:nvSpPr>
        <p:spPr>
          <a:xfrm>
            <a:off x="2496312" y="1508760"/>
            <a:ext cx="1783080" cy="365760"/>
          </a:xfrm>
          <a:prstGeom prst="rect">
            <a:avLst/>
          </a:prstGeom>
          <a:noFill/>
        </p:spPr>
        <p:txBody>
          <a:bodyPr wrap="square" rtlCol="0" anchor="ctr"/>
          <a:lstStyle/>
          <a:p>
            <a:pPr marL="0" indent="0">
              <a:buNone/>
            </a:pPr>
            <a:r>
              <a:rPr lang="en-US" sz="1100" b="1" dirty="0">
                <a:solidFill>
                  <a:srgbClr val="00C9A7"/>
                </a:solidFill>
              </a:rPr>
              <a:t>Configurer Actions</a:t>
            </a:r>
            <a:endParaRPr lang="en-US" sz="1100" dirty="0"/>
          </a:p>
        </p:txBody>
      </p:sp>
      <p:sp>
        <p:nvSpPr>
          <p:cNvPr id="13" name="Text 11"/>
          <p:cNvSpPr/>
          <p:nvPr/>
        </p:nvSpPr>
        <p:spPr>
          <a:xfrm>
            <a:off x="2496312" y="1874520"/>
            <a:ext cx="1783080" cy="1691640"/>
          </a:xfrm>
          <a:prstGeom prst="rect">
            <a:avLst/>
          </a:prstGeom>
          <a:noFill/>
        </p:spPr>
        <p:txBody>
          <a:bodyPr wrap="square" rtlCol="0" anchor="ctr"/>
          <a:lstStyle/>
          <a:p>
            <a:pPr marL="0" indent="0">
              <a:buNone/>
            </a:pPr>
            <a:r>
              <a:rPr lang="en-US" sz="950" dirty="0">
                <a:solidFill>
                  <a:srgbClr val="0A1628"/>
                </a:solidFill>
              </a:rPr>
              <a:t>Déclencheur : En alarme</a:t>
            </a:r>
            <a:endParaRPr lang="en-US" sz="950" dirty="0"/>
          </a:p>
          <a:p>
            <a:pPr marL="0" indent="0">
              <a:buNone/>
            </a:pPr>
            <a:r>
              <a:rPr lang="en-US" sz="950" dirty="0">
                <a:solidFill>
                  <a:srgbClr val="0A1628"/>
                </a:solidFill>
              </a:rPr>
              <a:t>Notification SNS</a:t>
            </a:r>
            <a:endParaRPr lang="en-US" sz="950" dirty="0"/>
          </a:p>
          <a:p>
            <a:pPr marL="0" indent="0">
              <a:buNone/>
            </a:pPr>
            <a:r>
              <a:rPr lang="en-US" sz="950" dirty="0">
                <a:solidFill>
                  <a:srgbClr val="0A1628"/>
                </a:solidFill>
              </a:rPr>
              <a:t>Rubrique : Default_CloudWatch_Alarms_Topic</a:t>
            </a:r>
            <a:endParaRPr lang="en-US" sz="950" dirty="0"/>
          </a:p>
        </p:txBody>
      </p:sp>
      <p:sp>
        <p:nvSpPr>
          <p:cNvPr id="14" name="Shape 12"/>
          <p:cNvSpPr/>
          <p:nvPr/>
        </p:nvSpPr>
        <p:spPr>
          <a:xfrm>
            <a:off x="4581144" y="1051560"/>
            <a:ext cx="1965960" cy="2560320"/>
          </a:xfrm>
          <a:prstGeom prst="rect">
            <a:avLst/>
          </a:prstGeom>
          <a:solidFill>
            <a:srgbClr val="FFFFFF"/>
          </a:solidFill>
          <a:ln w="25400">
            <a:solidFill>
              <a:srgbClr val="FF6B35"/>
            </a:solidFill>
            <a:prstDash val="solid"/>
          </a:ln>
        </p:spPr>
      </p:sp>
      <p:sp>
        <p:nvSpPr>
          <p:cNvPr id="15" name="Shape 13"/>
          <p:cNvSpPr/>
          <p:nvPr/>
        </p:nvSpPr>
        <p:spPr>
          <a:xfrm>
            <a:off x="4581144" y="1051560"/>
            <a:ext cx="1965960" cy="411480"/>
          </a:xfrm>
          <a:prstGeom prst="rect">
            <a:avLst/>
          </a:prstGeom>
          <a:solidFill>
            <a:srgbClr val="FF6B35"/>
          </a:solidFill>
          <a:ln w="12700">
            <a:solidFill>
              <a:srgbClr val="FF6B35"/>
            </a:solidFill>
            <a:prstDash val="solid"/>
          </a:ln>
        </p:spPr>
      </p:sp>
      <p:sp>
        <p:nvSpPr>
          <p:cNvPr id="16" name="Text 14"/>
          <p:cNvSpPr/>
          <p:nvPr/>
        </p:nvSpPr>
        <p:spPr>
          <a:xfrm>
            <a:off x="4581144" y="1051560"/>
            <a:ext cx="1965960" cy="411480"/>
          </a:xfrm>
          <a:prstGeom prst="rect">
            <a:avLst/>
          </a:prstGeom>
          <a:noFill/>
        </p:spPr>
        <p:txBody>
          <a:bodyPr wrap="square" rtlCol="0" anchor="ctr"/>
          <a:lstStyle/>
          <a:p>
            <a:pPr marL="0" indent="0" algn="ctr">
              <a:buNone/>
            </a:pPr>
            <a:r>
              <a:rPr lang="en-US" sz="1200" b="1" dirty="0">
                <a:solidFill>
                  <a:srgbClr val="FFFFFF"/>
                </a:solidFill>
              </a:rPr>
              <a:t>Étape 3</a:t>
            </a:r>
            <a:endParaRPr lang="en-US" sz="1200" dirty="0"/>
          </a:p>
        </p:txBody>
      </p:sp>
      <p:sp>
        <p:nvSpPr>
          <p:cNvPr id="17" name="Text 15"/>
          <p:cNvSpPr/>
          <p:nvPr/>
        </p:nvSpPr>
        <p:spPr>
          <a:xfrm>
            <a:off x="4672584" y="1508760"/>
            <a:ext cx="1783080" cy="365760"/>
          </a:xfrm>
          <a:prstGeom prst="rect">
            <a:avLst/>
          </a:prstGeom>
          <a:noFill/>
        </p:spPr>
        <p:txBody>
          <a:bodyPr wrap="square" rtlCol="0" anchor="ctr"/>
          <a:lstStyle/>
          <a:p>
            <a:pPr marL="0" indent="0">
              <a:buNone/>
            </a:pPr>
            <a:r>
              <a:rPr lang="en-US" sz="1100" b="1" dirty="0">
                <a:solidFill>
                  <a:srgbClr val="FF6B35"/>
                </a:solidFill>
              </a:rPr>
              <a:t>Détails d'Alarme</a:t>
            </a:r>
            <a:endParaRPr lang="en-US" sz="1100" dirty="0"/>
          </a:p>
        </p:txBody>
      </p:sp>
      <p:sp>
        <p:nvSpPr>
          <p:cNvPr id="18" name="Text 16"/>
          <p:cNvSpPr/>
          <p:nvPr/>
        </p:nvSpPr>
        <p:spPr>
          <a:xfrm>
            <a:off x="4672584" y="1874520"/>
            <a:ext cx="1783080" cy="1691640"/>
          </a:xfrm>
          <a:prstGeom prst="rect">
            <a:avLst/>
          </a:prstGeom>
          <a:noFill/>
        </p:spPr>
        <p:txBody>
          <a:bodyPr wrap="square" rtlCol="0" anchor="ctr"/>
          <a:lstStyle/>
          <a:p>
            <a:pPr marL="0" indent="0">
              <a:buNone/>
            </a:pPr>
            <a:r>
              <a:rPr lang="en-US" sz="950" dirty="0">
                <a:solidFill>
                  <a:srgbClr val="0A1628"/>
                </a:solidFill>
              </a:rPr>
              <a:t>Nom : Alerte-Modification-Ressource</a:t>
            </a:r>
            <a:endParaRPr lang="en-US" sz="950" dirty="0"/>
          </a:p>
          <a:p>
            <a:pPr marL="0" indent="0">
              <a:buNone/>
            </a:pPr>
            <a:r>
              <a:rPr lang="en-US" sz="950" dirty="0">
                <a:solidFill>
                  <a:srgbClr val="0A1628"/>
                </a:solidFill>
              </a:rPr>
              <a:t>Description : Alerte pour le projet TPE 3</a:t>
            </a:r>
            <a:endParaRPr lang="en-US" sz="950" dirty="0"/>
          </a:p>
        </p:txBody>
      </p:sp>
      <p:sp>
        <p:nvSpPr>
          <p:cNvPr id="19" name="Shape 17"/>
          <p:cNvSpPr/>
          <p:nvPr/>
        </p:nvSpPr>
        <p:spPr>
          <a:xfrm>
            <a:off x="6757416" y="1051560"/>
            <a:ext cx="1965960" cy="2560320"/>
          </a:xfrm>
          <a:prstGeom prst="rect">
            <a:avLst/>
          </a:prstGeom>
          <a:solidFill>
            <a:srgbClr val="FFFFFF"/>
          </a:solidFill>
          <a:ln w="25400">
            <a:solidFill>
              <a:srgbClr val="7C3AED"/>
            </a:solidFill>
            <a:prstDash val="solid"/>
          </a:ln>
        </p:spPr>
      </p:sp>
      <p:sp>
        <p:nvSpPr>
          <p:cNvPr id="20" name="Shape 18"/>
          <p:cNvSpPr/>
          <p:nvPr/>
        </p:nvSpPr>
        <p:spPr>
          <a:xfrm>
            <a:off x="6757416" y="1051560"/>
            <a:ext cx="1965960" cy="411480"/>
          </a:xfrm>
          <a:prstGeom prst="rect">
            <a:avLst/>
          </a:prstGeom>
          <a:solidFill>
            <a:srgbClr val="7C3AED"/>
          </a:solidFill>
          <a:ln w="12700">
            <a:solidFill>
              <a:srgbClr val="7C3AED"/>
            </a:solidFill>
            <a:prstDash val="solid"/>
          </a:ln>
        </p:spPr>
      </p:sp>
      <p:sp>
        <p:nvSpPr>
          <p:cNvPr id="21" name="Text 19"/>
          <p:cNvSpPr/>
          <p:nvPr/>
        </p:nvSpPr>
        <p:spPr>
          <a:xfrm>
            <a:off x="6757416" y="1051560"/>
            <a:ext cx="1965960" cy="411480"/>
          </a:xfrm>
          <a:prstGeom prst="rect">
            <a:avLst/>
          </a:prstGeom>
          <a:noFill/>
        </p:spPr>
        <p:txBody>
          <a:bodyPr wrap="square" rtlCol="0" anchor="ctr"/>
          <a:lstStyle/>
          <a:p>
            <a:pPr marL="0" indent="0" algn="ctr">
              <a:buNone/>
            </a:pPr>
            <a:r>
              <a:rPr lang="en-US" sz="1200" b="1" dirty="0">
                <a:solidFill>
                  <a:srgbClr val="FFFFFF"/>
                </a:solidFill>
              </a:rPr>
              <a:t>Étape 4</a:t>
            </a:r>
            <a:endParaRPr lang="en-US" sz="1200" dirty="0"/>
          </a:p>
        </p:txBody>
      </p:sp>
      <p:sp>
        <p:nvSpPr>
          <p:cNvPr id="22" name="Text 20"/>
          <p:cNvSpPr/>
          <p:nvPr/>
        </p:nvSpPr>
        <p:spPr>
          <a:xfrm>
            <a:off x="6848856" y="1508760"/>
            <a:ext cx="1783080" cy="365760"/>
          </a:xfrm>
          <a:prstGeom prst="rect">
            <a:avLst/>
          </a:prstGeom>
          <a:noFill/>
        </p:spPr>
        <p:txBody>
          <a:bodyPr wrap="square" rtlCol="0" anchor="ctr"/>
          <a:lstStyle/>
          <a:p>
            <a:pPr marL="0" indent="0">
              <a:buNone/>
            </a:pPr>
            <a:r>
              <a:rPr lang="en-US" sz="1100" b="1" dirty="0">
                <a:solidFill>
                  <a:srgbClr val="7C3AED"/>
                </a:solidFill>
              </a:rPr>
              <a:t>Prévisualiser &amp; Créer</a:t>
            </a:r>
            <a:endParaRPr lang="en-US" sz="1100" dirty="0"/>
          </a:p>
        </p:txBody>
      </p:sp>
      <p:sp>
        <p:nvSpPr>
          <p:cNvPr id="23" name="Text 21"/>
          <p:cNvSpPr/>
          <p:nvPr/>
        </p:nvSpPr>
        <p:spPr>
          <a:xfrm>
            <a:off x="6848856" y="1874520"/>
            <a:ext cx="1783080" cy="1691640"/>
          </a:xfrm>
          <a:prstGeom prst="rect">
            <a:avLst/>
          </a:prstGeom>
          <a:noFill/>
        </p:spPr>
        <p:txBody>
          <a:bodyPr wrap="square" rtlCol="0" anchor="ctr"/>
          <a:lstStyle/>
          <a:p>
            <a:pPr marL="0" indent="0">
              <a:buNone/>
            </a:pPr>
            <a:r>
              <a:rPr lang="en-US" sz="950" dirty="0">
                <a:solidFill>
                  <a:srgbClr val="0A1628"/>
                </a:solidFill>
              </a:rPr>
              <a:t>Révision finale et confirmation de l'alarme créée ✅</a:t>
            </a:r>
            <a:endParaRPr lang="en-US" sz="950" dirty="0"/>
          </a:p>
        </p:txBody>
      </p:sp>
      <p:sp>
        <p:nvSpPr>
          <p:cNvPr id="24" name="Shape 22"/>
          <p:cNvSpPr/>
          <p:nvPr/>
        </p:nvSpPr>
        <p:spPr>
          <a:xfrm>
            <a:off x="365760" y="3749040"/>
            <a:ext cx="8412480" cy="457200"/>
          </a:xfrm>
          <a:prstGeom prst="rect">
            <a:avLst/>
          </a:prstGeom>
          <a:solidFill>
            <a:srgbClr val="FFF7ED"/>
          </a:solidFill>
          <a:ln w="12700">
            <a:solidFill>
              <a:srgbClr val="FF6B35"/>
            </a:solidFill>
            <a:prstDash val="solid"/>
          </a:ln>
        </p:spPr>
      </p:sp>
      <p:sp>
        <p:nvSpPr>
          <p:cNvPr id="25" name="Text 23"/>
          <p:cNvSpPr/>
          <p:nvPr/>
        </p:nvSpPr>
        <p:spPr>
          <a:xfrm>
            <a:off x="548640" y="3767328"/>
            <a:ext cx="8046720" cy="411480"/>
          </a:xfrm>
          <a:prstGeom prst="rect">
            <a:avLst/>
          </a:prstGeom>
          <a:noFill/>
        </p:spPr>
        <p:txBody>
          <a:bodyPr wrap="square" rtlCol="0" anchor="ctr"/>
          <a:lstStyle/>
          <a:p>
            <a:pPr marL="0" indent="0">
              <a:buNone/>
            </a:pPr>
            <a:r>
              <a:rPr lang="en-US" sz="1100" b="1" dirty="0">
                <a:solidFill>
                  <a:srgbClr val="FF6B35"/>
                </a:solidFill>
              </a:rPr>
              <a:t>📧  Email de confirmation SNS envoyé à : </a:t>
            </a:r>
            <a:r>
              <a:rPr lang="en-US" sz="1100" dirty="0">
                <a:solidFill>
                  <a:srgbClr val="0A1628"/>
                </a:solidFill>
              </a:rPr>
              <a:t>hayefall16@gmail.com  </a:t>
            </a:r>
            <a:r>
              <a:rPr lang="en-US" sz="1100" dirty="0">
                <a:solidFill>
                  <a:srgbClr val="64748B"/>
                </a:solidFill>
              </a:rPr>
              <a:t>→ Abonnement confirmé via AWS SNS</a:t>
            </a:r>
            <a:endParaRPr lang="en-US" sz="1100" dirty="0"/>
          </a:p>
        </p:txBody>
      </p:sp>
      <p:sp>
        <p:nvSpPr>
          <p:cNvPr id="26" name="Shape 24"/>
          <p:cNvSpPr/>
          <p:nvPr/>
        </p:nvSpPr>
        <p:spPr>
          <a:xfrm>
            <a:off x="365760" y="4315968"/>
            <a:ext cx="8412480" cy="566928"/>
          </a:xfrm>
          <a:prstGeom prst="rect">
            <a:avLst/>
          </a:prstGeom>
          <a:solidFill>
            <a:srgbClr val="F0FDF4"/>
          </a:solidFill>
          <a:ln w="12700">
            <a:solidFill>
              <a:srgbClr val="00C9A7"/>
            </a:solidFill>
            <a:prstDash val="solid"/>
          </a:ln>
        </p:spPr>
      </p:sp>
      <p:sp>
        <p:nvSpPr>
          <p:cNvPr id="27" name="Text 25"/>
          <p:cNvSpPr/>
          <p:nvPr/>
        </p:nvSpPr>
        <p:spPr>
          <a:xfrm>
            <a:off x="548640" y="4343400"/>
            <a:ext cx="8046720" cy="502920"/>
          </a:xfrm>
          <a:prstGeom prst="rect">
            <a:avLst/>
          </a:prstGeom>
          <a:noFill/>
        </p:spPr>
        <p:txBody>
          <a:bodyPr wrap="square" rtlCol="0" anchor="ctr"/>
          <a:lstStyle/>
          <a:p>
            <a:pPr marL="0" indent="0">
              <a:buNone/>
            </a:pPr>
            <a:r>
              <a:rPr lang="en-US" sz="1100" dirty="0">
                <a:solidFill>
                  <a:srgbClr val="0A1628"/>
                </a:solidFill>
              </a:rPr>
              <a:t>✅  Alarme "Alerte-Modification-Ressource" créée avec succès — Actions activées — Date : 2026-03-11 12:15:59 UTC</a:t>
            </a:r>
            <a:endParaRPr lang="en-US" sz="1100" dirty="0"/>
          </a:p>
        </p:txBody>
      </p:sp>
      <p:sp>
        <p:nvSpPr>
          <p:cNvPr id="28" name="Shape 26"/>
          <p:cNvSpPr/>
          <p:nvPr/>
        </p:nvSpPr>
        <p:spPr>
          <a:xfrm>
            <a:off x="0" y="4983480"/>
            <a:ext cx="9144000" cy="160020"/>
          </a:xfrm>
          <a:prstGeom prst="rect">
            <a:avLst/>
          </a:prstGeom>
          <a:solidFill>
            <a:srgbClr val="0A1628"/>
          </a:solidFill>
          <a:ln w="12700">
            <a:solidFill>
              <a:srgbClr val="0A1628"/>
            </a:solidFill>
            <a:prstDash val="solid"/>
          </a:ln>
        </p:spPr>
      </p:sp>
      <p:sp>
        <p:nvSpPr>
          <p:cNvPr id="29" name="Text 27"/>
          <p:cNvSpPr/>
          <p:nvPr/>
        </p:nvSpPr>
        <p:spPr>
          <a:xfrm>
            <a:off x="0" y="4983480"/>
            <a:ext cx="9144000" cy="160020"/>
          </a:xfrm>
          <a:prstGeom prst="rect">
            <a:avLst/>
          </a:prstGeom>
          <a:noFill/>
        </p:spPr>
        <p:txBody>
          <a:bodyPr wrap="square" rtlCol="0" anchor="ctr"/>
          <a:lstStyle/>
          <a:p>
            <a:pPr marL="0" indent="0" algn="ctr">
              <a:buNone/>
            </a:pPr>
            <a:r>
              <a:rPr lang="en-US" sz="900" dirty="0">
                <a:solidFill>
                  <a:srgbClr val="8899AA"/>
                </a:solidFill>
              </a:rPr>
              <a:t>Projet : Surveillance des activités de AWS  |  Haye Fall  —  LICC2  —  BEM.ECH</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F766E"/>
          </a:solidFill>
          <a:ln w="12700">
            <a:solidFill>
              <a:srgbClr val="0F766E"/>
            </a:solidFill>
            <a:prstDash val="solid"/>
          </a:ln>
        </p:spPr>
      </p:sp>
      <p:sp>
        <p:nvSpPr>
          <p:cNvPr id="3" name="Text 1"/>
          <p:cNvSpPr/>
          <p:nvPr/>
        </p:nvSpPr>
        <p:spPr>
          <a:xfrm>
            <a:off x="365760" y="91440"/>
            <a:ext cx="8229600" cy="777240"/>
          </a:xfrm>
          <a:prstGeom prst="rect">
            <a:avLst/>
          </a:prstGeom>
          <a:noFill/>
        </p:spPr>
        <p:txBody>
          <a:bodyPr wrap="square" rtlCol="0" anchor="ctr"/>
          <a:lstStyle/>
          <a:p>
            <a:pPr marL="0" indent="0">
              <a:buNone/>
            </a:pPr>
            <a:r>
              <a:rPr lang="en-US" sz="2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06 — Surveillance VPC &amp; CloudTrail</a:t>
            </a:r>
            <a:endParaRPr lang="en-US" sz="2600" dirty="0"/>
          </a:p>
        </p:txBody>
      </p:sp>
      <p:sp>
        <p:nvSpPr>
          <p:cNvPr id="4" name="Shape 2"/>
          <p:cNvSpPr/>
          <p:nvPr/>
        </p:nvSpPr>
        <p:spPr>
          <a:xfrm>
            <a:off x="365760" y="1051560"/>
            <a:ext cx="4023360" cy="365760"/>
          </a:xfrm>
          <a:prstGeom prst="rect">
            <a:avLst/>
          </a:prstGeom>
          <a:solidFill>
            <a:srgbClr val="0F766E"/>
          </a:solidFill>
          <a:ln w="12700">
            <a:solidFill>
              <a:srgbClr val="0F766E"/>
            </a:solidFill>
            <a:prstDash val="solid"/>
          </a:ln>
        </p:spPr>
      </p:sp>
      <p:sp>
        <p:nvSpPr>
          <p:cNvPr id="5" name="Text 3"/>
          <p:cNvSpPr/>
          <p:nvPr/>
        </p:nvSpPr>
        <p:spPr>
          <a:xfrm>
            <a:off x="365760" y="1051560"/>
            <a:ext cx="4023360" cy="365760"/>
          </a:xfrm>
          <a:prstGeom prst="rect">
            <a:avLst/>
          </a:prstGeom>
          <a:noFill/>
        </p:spPr>
        <p:txBody>
          <a:bodyPr wrap="square" rtlCol="0" anchor="ctr"/>
          <a:lstStyle/>
          <a:p>
            <a:pPr marL="0" indent="0" algn="ctr">
              <a:buNone/>
            </a:pPr>
            <a:r>
              <a:rPr lang="en-US" sz="1200" b="1" dirty="0">
                <a:solidFill>
                  <a:srgbClr val="FFFFFF"/>
                </a:solidFill>
              </a:rPr>
              <a:t>🔒  Amazon VPC — Groupes de Sécurité</a:t>
            </a:r>
            <a:endParaRPr lang="en-US" sz="1200" dirty="0"/>
          </a:p>
        </p:txBody>
      </p:sp>
      <p:sp>
        <p:nvSpPr>
          <p:cNvPr id="6" name="Shape 4"/>
          <p:cNvSpPr/>
          <p:nvPr/>
        </p:nvSpPr>
        <p:spPr>
          <a:xfrm>
            <a:off x="365760" y="1417320"/>
            <a:ext cx="4023360" cy="2194560"/>
          </a:xfrm>
          <a:prstGeom prst="rect">
            <a:avLst/>
          </a:prstGeom>
          <a:solidFill>
            <a:srgbClr val="FFFFFF"/>
          </a:solidFill>
          <a:ln w="12700">
            <a:solidFill>
              <a:srgbClr val="D1D5DB"/>
            </a:solidFill>
            <a:prstDash val="solid"/>
          </a:ln>
        </p:spPr>
      </p:sp>
      <p:pic>
        <p:nvPicPr>
          <p:cNvPr id="7" name="Image 0" descr="/mnt/user-data/uploads/JJ.png"/>
          <p:cNvPicPr>
            <a:picLocks noChangeAspect="1"/>
          </p:cNvPicPr>
          <p:nvPr/>
        </p:nvPicPr>
        <p:blipFill>
          <a:blip r:embed="rId1"/>
          <a:srcRect/>
          <a:stretch>
            <a:fillRect/>
          </a:stretch>
        </p:blipFill>
        <p:spPr>
          <a:xfrm>
            <a:off x="365760" y="1417320"/>
            <a:ext cx="4023360" cy="1234440"/>
          </a:xfrm>
          <a:prstGeom prst="rect">
            <a:avLst/>
          </a:prstGeom>
        </p:spPr>
      </p:pic>
      <p:sp>
        <p:nvSpPr>
          <p:cNvPr id="8" name="Text 5"/>
          <p:cNvSpPr/>
          <p:nvPr/>
        </p:nvSpPr>
        <p:spPr>
          <a:xfrm>
            <a:off x="457200" y="2651760"/>
            <a:ext cx="3840480" cy="914400"/>
          </a:xfrm>
          <a:prstGeom prst="rect">
            <a:avLst/>
          </a:prstGeom>
          <a:noFill/>
        </p:spPr>
        <p:txBody>
          <a:bodyPr wrap="square" rtlCol="0" anchor="ctr"/>
          <a:lstStyle/>
          <a:p>
            <a:pPr marL="0" indent="0">
              <a:buNone/>
            </a:pPr>
            <a:r>
              <a:rPr lang="en-US" sz="1000" b="1" dirty="0">
                <a:solidFill>
                  <a:srgbClr val="0A1628"/>
                </a:solidFill>
              </a:rPr>
              <a:t>Groupe créé : </a:t>
            </a:r>
            <a:r>
              <a:rPr lang="en-US" sz="1000" dirty="0">
                <a:solidFill>
                  <a:srgbClr val="0A1628"/>
                </a:solidFill>
              </a:rPr>
              <a:t>Test-Alerte-TPE
</a:t>
            </a:r>
            <a:endParaRPr lang="en-US" sz="1000" dirty="0"/>
          </a:p>
          <a:p>
            <a:pPr marL="0" indent="0">
              <a:buNone/>
            </a:pPr>
            <a:r>
              <a:rPr lang="en-US" sz="1000" b="1" dirty="0">
                <a:solidFill>
                  <a:srgbClr val="0A1628"/>
                </a:solidFill>
              </a:rPr>
              <a:t>ID : </a:t>
            </a:r>
            <a:r>
              <a:rPr lang="en-US" sz="1000" dirty="0">
                <a:solidFill>
                  <a:srgbClr val="0A1628"/>
                </a:solidFill>
              </a:rPr>
              <a:t>sg-058b984a7c8e8a0db
</a:t>
            </a:r>
            <a:endParaRPr lang="en-US" sz="1000" dirty="0"/>
          </a:p>
          <a:p>
            <a:pPr marL="0" indent="0">
              <a:buNone/>
            </a:pPr>
            <a:r>
              <a:rPr lang="en-US" sz="1000" b="1" dirty="0">
                <a:solidFill>
                  <a:srgbClr val="0A1628"/>
                </a:solidFill>
              </a:rPr>
              <a:t>Règles sortantes : </a:t>
            </a:r>
            <a:r>
              <a:rPr lang="en-US" sz="1000" dirty="0">
                <a:solidFill>
                  <a:srgbClr val="0A1628"/>
                </a:solidFill>
              </a:rPr>
              <a:t>Tout le trafic → 0.0.0.0/0</a:t>
            </a:r>
            <a:endParaRPr lang="en-US" sz="1000" dirty="0"/>
          </a:p>
        </p:txBody>
      </p:sp>
      <p:sp>
        <p:nvSpPr>
          <p:cNvPr id="9" name="Shape 6"/>
          <p:cNvSpPr/>
          <p:nvPr/>
        </p:nvSpPr>
        <p:spPr>
          <a:xfrm>
            <a:off x="4754880" y="1051560"/>
            <a:ext cx="4023360" cy="365760"/>
          </a:xfrm>
          <a:prstGeom prst="rect">
            <a:avLst/>
          </a:prstGeom>
          <a:solidFill>
            <a:srgbClr val="0D6EFD"/>
          </a:solidFill>
          <a:ln w="12700">
            <a:solidFill>
              <a:srgbClr val="0D6EFD"/>
            </a:solidFill>
            <a:prstDash val="solid"/>
          </a:ln>
        </p:spPr>
      </p:sp>
      <p:sp>
        <p:nvSpPr>
          <p:cNvPr id="10" name="Text 7"/>
          <p:cNvSpPr/>
          <p:nvPr/>
        </p:nvSpPr>
        <p:spPr>
          <a:xfrm>
            <a:off x="4754880" y="1051560"/>
            <a:ext cx="4023360" cy="365760"/>
          </a:xfrm>
          <a:prstGeom prst="rect">
            <a:avLst/>
          </a:prstGeom>
          <a:noFill/>
        </p:spPr>
        <p:txBody>
          <a:bodyPr wrap="square" rtlCol="0" anchor="ctr"/>
          <a:lstStyle/>
          <a:p>
            <a:pPr marL="0" indent="0" algn="ctr">
              <a:buNone/>
            </a:pPr>
            <a:r>
              <a:rPr lang="en-US" sz="1200" b="1" dirty="0">
                <a:solidFill>
                  <a:srgbClr val="FFFFFF"/>
                </a:solidFill>
              </a:rPr>
              <a:t>📋  AWS CloudTrail — Historique des Événements</a:t>
            </a:r>
            <a:endParaRPr lang="en-US" sz="1200" dirty="0"/>
          </a:p>
        </p:txBody>
      </p:sp>
      <p:sp>
        <p:nvSpPr>
          <p:cNvPr id="11" name="Shape 8"/>
          <p:cNvSpPr/>
          <p:nvPr/>
        </p:nvSpPr>
        <p:spPr>
          <a:xfrm>
            <a:off x="4754880" y="1417320"/>
            <a:ext cx="4023360" cy="2194560"/>
          </a:xfrm>
          <a:prstGeom prst="rect">
            <a:avLst/>
          </a:prstGeom>
          <a:solidFill>
            <a:srgbClr val="FFFFFF"/>
          </a:solidFill>
          <a:ln w="12700">
            <a:solidFill>
              <a:srgbClr val="D1D5DB"/>
            </a:solidFill>
            <a:prstDash val="solid"/>
          </a:ln>
        </p:spPr>
      </p:sp>
      <p:pic>
        <p:nvPicPr>
          <p:cNvPr id="12" name="Image 1" descr="/mnt/user-data/uploads/MM.png"/>
          <p:cNvPicPr>
            <a:picLocks noChangeAspect="1"/>
          </p:cNvPicPr>
          <p:nvPr/>
        </p:nvPicPr>
        <p:blipFill>
          <a:blip r:embed="rId2"/>
          <a:srcRect/>
          <a:stretch>
            <a:fillRect/>
          </a:stretch>
        </p:blipFill>
        <p:spPr>
          <a:xfrm>
            <a:off x="4754880" y="1417320"/>
            <a:ext cx="4023360" cy="1234440"/>
          </a:xfrm>
          <a:prstGeom prst="rect">
            <a:avLst/>
          </a:prstGeom>
        </p:spPr>
      </p:pic>
      <p:sp>
        <p:nvSpPr>
          <p:cNvPr id="13" name="Text 9"/>
          <p:cNvSpPr/>
          <p:nvPr/>
        </p:nvSpPr>
        <p:spPr>
          <a:xfrm>
            <a:off x="4846320" y="2670048"/>
            <a:ext cx="3840480" cy="228600"/>
          </a:xfrm>
          <a:prstGeom prst="rect">
            <a:avLst/>
          </a:prstGeom>
          <a:noFill/>
        </p:spPr>
        <p:txBody>
          <a:bodyPr wrap="square" rtlCol="0" anchor="ctr"/>
          <a:lstStyle/>
          <a:p>
            <a:pPr marL="0" indent="0">
              <a:buNone/>
            </a:pPr>
            <a:r>
              <a:rPr lang="en-US" sz="1100" b="1" dirty="0">
                <a:solidFill>
                  <a:srgbClr val="0D6EFD"/>
                </a:solidFill>
              </a:rPr>
              <a:t>Événements tracés :</a:t>
            </a:r>
            <a:endParaRPr lang="en-US" sz="1100" dirty="0"/>
          </a:p>
        </p:txBody>
      </p:sp>
      <p:sp>
        <p:nvSpPr>
          <p:cNvPr id="14" name="Text 10"/>
          <p:cNvSpPr/>
          <p:nvPr/>
        </p:nvSpPr>
        <p:spPr>
          <a:xfrm>
            <a:off x="4846320" y="2907792"/>
            <a:ext cx="2286000" cy="201168"/>
          </a:xfrm>
          <a:prstGeom prst="rect">
            <a:avLst/>
          </a:prstGeom>
          <a:noFill/>
        </p:spPr>
        <p:txBody>
          <a:bodyPr wrap="square" rtlCol="0" anchor="ctr"/>
          <a:lstStyle/>
          <a:p>
            <a:pPr marL="0" indent="0">
              <a:buNone/>
            </a:pPr>
            <a:r>
              <a:rPr lang="en-US" sz="900" b="1" dirty="0">
                <a:solidFill>
                  <a:srgbClr val="0A1628"/>
                </a:solidFill>
              </a:rPr>
              <a:t>• CreateSecurityGroup</a:t>
            </a:r>
            <a:endParaRPr lang="en-US" sz="900" dirty="0"/>
          </a:p>
        </p:txBody>
      </p:sp>
      <p:sp>
        <p:nvSpPr>
          <p:cNvPr id="15" name="Text 11"/>
          <p:cNvSpPr/>
          <p:nvPr/>
        </p:nvSpPr>
        <p:spPr>
          <a:xfrm>
            <a:off x="7132320" y="2907792"/>
            <a:ext cx="1600200" cy="201168"/>
          </a:xfrm>
          <a:prstGeom prst="rect">
            <a:avLst/>
          </a:prstGeom>
          <a:noFill/>
        </p:spPr>
        <p:txBody>
          <a:bodyPr wrap="square" rtlCol="0" anchor="ctr"/>
          <a:lstStyle/>
          <a:p>
            <a:pPr marL="0" indent="0">
              <a:buNone/>
            </a:pPr>
            <a:r>
              <a:rPr lang="en-US" sz="900" dirty="0">
                <a:solidFill>
                  <a:srgbClr val="64748B"/>
                </a:solidFill>
              </a:rPr>
              <a:t>11 mars 2026, 13:36</a:t>
            </a:r>
            <a:endParaRPr lang="en-US" sz="900" dirty="0"/>
          </a:p>
        </p:txBody>
      </p:sp>
      <p:sp>
        <p:nvSpPr>
          <p:cNvPr id="16" name="Text 12"/>
          <p:cNvSpPr/>
          <p:nvPr/>
        </p:nvSpPr>
        <p:spPr>
          <a:xfrm>
            <a:off x="4846320" y="3108960"/>
            <a:ext cx="2286000" cy="201168"/>
          </a:xfrm>
          <a:prstGeom prst="rect">
            <a:avLst/>
          </a:prstGeom>
          <a:noFill/>
        </p:spPr>
        <p:txBody>
          <a:bodyPr wrap="square" rtlCol="0" anchor="ctr"/>
          <a:lstStyle/>
          <a:p>
            <a:pPr marL="0" indent="0">
              <a:buNone/>
            </a:pPr>
            <a:r>
              <a:rPr lang="en-US" sz="900" b="1" dirty="0">
                <a:solidFill>
                  <a:srgbClr val="0A1628"/>
                </a:solidFill>
              </a:rPr>
              <a:t>• PutMetricAlarm</a:t>
            </a:r>
            <a:endParaRPr lang="en-US" sz="900" dirty="0"/>
          </a:p>
        </p:txBody>
      </p:sp>
      <p:sp>
        <p:nvSpPr>
          <p:cNvPr id="17" name="Text 13"/>
          <p:cNvSpPr/>
          <p:nvPr/>
        </p:nvSpPr>
        <p:spPr>
          <a:xfrm>
            <a:off x="7132320" y="3108960"/>
            <a:ext cx="1600200" cy="201168"/>
          </a:xfrm>
          <a:prstGeom prst="rect">
            <a:avLst/>
          </a:prstGeom>
          <a:noFill/>
        </p:spPr>
        <p:txBody>
          <a:bodyPr wrap="square" rtlCol="0" anchor="ctr"/>
          <a:lstStyle/>
          <a:p>
            <a:pPr marL="0" indent="0">
              <a:buNone/>
            </a:pPr>
            <a:r>
              <a:rPr lang="en-US" sz="900" dirty="0">
                <a:solidFill>
                  <a:srgbClr val="64748B"/>
                </a:solidFill>
              </a:rPr>
              <a:t>11 mars 2026, 13:15</a:t>
            </a:r>
            <a:endParaRPr lang="en-US" sz="900" dirty="0"/>
          </a:p>
        </p:txBody>
      </p:sp>
      <p:sp>
        <p:nvSpPr>
          <p:cNvPr id="18" name="Text 14"/>
          <p:cNvSpPr/>
          <p:nvPr/>
        </p:nvSpPr>
        <p:spPr>
          <a:xfrm>
            <a:off x="4846320" y="3310128"/>
            <a:ext cx="2286000" cy="201168"/>
          </a:xfrm>
          <a:prstGeom prst="rect">
            <a:avLst/>
          </a:prstGeom>
          <a:noFill/>
        </p:spPr>
        <p:txBody>
          <a:bodyPr wrap="square" rtlCol="0" anchor="ctr"/>
          <a:lstStyle/>
          <a:p>
            <a:pPr marL="0" indent="0">
              <a:buNone/>
            </a:pPr>
            <a:r>
              <a:rPr lang="en-US" sz="900" b="1" dirty="0">
                <a:solidFill>
                  <a:srgbClr val="0A1628"/>
                </a:solidFill>
              </a:rPr>
              <a:t>• Subscribe / CreateTopic</a:t>
            </a:r>
            <a:endParaRPr lang="en-US" sz="900" dirty="0"/>
          </a:p>
        </p:txBody>
      </p:sp>
      <p:sp>
        <p:nvSpPr>
          <p:cNvPr id="19" name="Text 15"/>
          <p:cNvSpPr/>
          <p:nvPr/>
        </p:nvSpPr>
        <p:spPr>
          <a:xfrm>
            <a:off x="7132320" y="3310128"/>
            <a:ext cx="1600200" cy="201168"/>
          </a:xfrm>
          <a:prstGeom prst="rect">
            <a:avLst/>
          </a:prstGeom>
          <a:noFill/>
        </p:spPr>
        <p:txBody>
          <a:bodyPr wrap="square" rtlCol="0" anchor="ctr"/>
          <a:lstStyle/>
          <a:p>
            <a:pPr marL="0" indent="0">
              <a:buNone/>
            </a:pPr>
            <a:r>
              <a:rPr lang="en-US" sz="900" dirty="0">
                <a:solidFill>
                  <a:srgbClr val="64748B"/>
                </a:solidFill>
              </a:rPr>
              <a:t>11 mars 2026, 13:06</a:t>
            </a:r>
            <a:endParaRPr lang="en-US" sz="900" dirty="0"/>
          </a:p>
        </p:txBody>
      </p:sp>
      <p:sp>
        <p:nvSpPr>
          <p:cNvPr id="20" name="Text 16"/>
          <p:cNvSpPr/>
          <p:nvPr/>
        </p:nvSpPr>
        <p:spPr>
          <a:xfrm>
            <a:off x="4846320" y="3511296"/>
            <a:ext cx="2286000" cy="201168"/>
          </a:xfrm>
          <a:prstGeom prst="rect">
            <a:avLst/>
          </a:prstGeom>
          <a:noFill/>
        </p:spPr>
        <p:txBody>
          <a:bodyPr wrap="square" rtlCol="0" anchor="ctr"/>
          <a:lstStyle/>
          <a:p>
            <a:pPr marL="0" indent="0">
              <a:buNone/>
            </a:pPr>
            <a:r>
              <a:rPr lang="en-US" sz="900" b="1" dirty="0">
                <a:solidFill>
                  <a:srgbClr val="0A1628"/>
                </a:solidFill>
              </a:rPr>
              <a:t>• PutMetricFilter</a:t>
            </a:r>
            <a:endParaRPr lang="en-US" sz="900" dirty="0"/>
          </a:p>
        </p:txBody>
      </p:sp>
      <p:sp>
        <p:nvSpPr>
          <p:cNvPr id="21" name="Text 17"/>
          <p:cNvSpPr/>
          <p:nvPr/>
        </p:nvSpPr>
        <p:spPr>
          <a:xfrm>
            <a:off x="7132320" y="3511296"/>
            <a:ext cx="1600200" cy="201168"/>
          </a:xfrm>
          <a:prstGeom prst="rect">
            <a:avLst/>
          </a:prstGeom>
          <a:noFill/>
        </p:spPr>
        <p:txBody>
          <a:bodyPr wrap="square" rtlCol="0" anchor="ctr"/>
          <a:lstStyle/>
          <a:p>
            <a:pPr marL="0" indent="0">
              <a:buNone/>
            </a:pPr>
            <a:r>
              <a:rPr lang="en-US" sz="900" dirty="0">
                <a:solidFill>
                  <a:srgbClr val="64748B"/>
                </a:solidFill>
              </a:rPr>
              <a:t>11 mars 2026, 12:48</a:t>
            </a:r>
            <a:endParaRPr lang="en-US" sz="900" dirty="0"/>
          </a:p>
        </p:txBody>
      </p:sp>
      <p:sp>
        <p:nvSpPr>
          <p:cNvPr id="22" name="Shape 18"/>
          <p:cNvSpPr/>
          <p:nvPr/>
        </p:nvSpPr>
        <p:spPr>
          <a:xfrm>
            <a:off x="0" y="4983480"/>
            <a:ext cx="9144000" cy="160020"/>
          </a:xfrm>
          <a:prstGeom prst="rect">
            <a:avLst/>
          </a:prstGeom>
          <a:solidFill>
            <a:srgbClr val="0A1628"/>
          </a:solidFill>
          <a:ln w="12700">
            <a:solidFill>
              <a:srgbClr val="0A1628"/>
            </a:solidFill>
            <a:prstDash val="solid"/>
          </a:ln>
        </p:spPr>
      </p:sp>
      <p:sp>
        <p:nvSpPr>
          <p:cNvPr id="23" name="Text 19"/>
          <p:cNvSpPr/>
          <p:nvPr/>
        </p:nvSpPr>
        <p:spPr>
          <a:xfrm>
            <a:off x="0" y="4983480"/>
            <a:ext cx="9144000" cy="160020"/>
          </a:xfrm>
          <a:prstGeom prst="rect">
            <a:avLst/>
          </a:prstGeom>
          <a:noFill/>
        </p:spPr>
        <p:txBody>
          <a:bodyPr wrap="square" rtlCol="0" anchor="ctr"/>
          <a:lstStyle/>
          <a:p>
            <a:pPr marL="0" indent="0" algn="ctr">
              <a:buNone/>
            </a:pPr>
            <a:r>
              <a:rPr lang="en-US" sz="900" dirty="0">
                <a:solidFill>
                  <a:srgbClr val="8899AA"/>
                </a:solidFill>
              </a:rPr>
              <a:t>Projet : Surveillance des activités de AWS  |  Haye Fall  —  LICC2  —  BEM.ECH</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9A7"/>
          </a:solidFill>
          <a:ln w="12700">
            <a:solidFill>
              <a:srgbClr val="00C9A7"/>
            </a:solidFill>
            <a:prstDash val="solid"/>
          </a:ln>
        </p:spPr>
      </p:sp>
      <p:sp>
        <p:nvSpPr>
          <p:cNvPr id="3" name="Text 1"/>
          <p:cNvSpPr/>
          <p:nvPr/>
        </p:nvSpPr>
        <p:spPr>
          <a:xfrm>
            <a:off x="457200" y="228600"/>
            <a:ext cx="8229600" cy="640080"/>
          </a:xfrm>
          <a:prstGeom prst="rect">
            <a:avLst/>
          </a:prstGeom>
          <a:noFill/>
        </p:spPr>
        <p:txBody>
          <a:bodyPr wrap="square" rtlCol="0" anchor="ctr"/>
          <a:lstStyle/>
          <a:p>
            <a:pPr marL="0" indent="0" algn="ctr">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07 — Résultats &amp; Conclusion</a:t>
            </a:r>
            <a:endParaRPr lang="en-US" sz="2800" dirty="0"/>
          </a:p>
        </p:txBody>
      </p:sp>
      <p:sp>
        <p:nvSpPr>
          <p:cNvPr id="4" name="Shape 2"/>
          <p:cNvSpPr/>
          <p:nvPr/>
        </p:nvSpPr>
        <p:spPr>
          <a:xfrm>
            <a:off x="365760" y="1051560"/>
            <a:ext cx="2606040" cy="1097280"/>
          </a:xfrm>
          <a:prstGeom prst="rect">
            <a:avLst/>
          </a:prstGeom>
          <a:solidFill>
            <a:srgbClr val="112240"/>
          </a:solidFill>
          <a:ln w="12700">
            <a:solidFill>
              <a:srgbClr val="0D6EFD"/>
            </a:solidFill>
            <a:prstDash val="solid"/>
          </a:ln>
        </p:spPr>
      </p:sp>
      <p:sp>
        <p:nvSpPr>
          <p:cNvPr id="5" name="Text 3"/>
          <p:cNvSpPr/>
          <p:nvPr/>
        </p:nvSpPr>
        <p:spPr>
          <a:xfrm>
            <a:off x="365760" y="1097280"/>
            <a:ext cx="2606040" cy="411480"/>
          </a:xfrm>
          <a:prstGeom prst="rect">
            <a:avLst/>
          </a:prstGeom>
          <a:noFill/>
        </p:spPr>
        <p:txBody>
          <a:bodyPr wrap="square" rtlCol="0" anchor="ctr"/>
          <a:lstStyle/>
          <a:p>
            <a:pPr marL="0" indent="0" algn="ctr">
              <a:buNone/>
            </a:pPr>
            <a:r>
              <a:rPr lang="en-US" sz="2200" dirty="0">
                <a:solidFill>
                  <a:srgbClr val="000000"/>
                </a:solidFill>
              </a:rPr>
              <a:t>✅</a:t>
            </a:r>
            <a:endParaRPr lang="en-US" sz="2200" dirty="0"/>
          </a:p>
        </p:txBody>
      </p:sp>
      <p:sp>
        <p:nvSpPr>
          <p:cNvPr id="6" name="Text 4"/>
          <p:cNvSpPr/>
          <p:nvPr/>
        </p:nvSpPr>
        <p:spPr>
          <a:xfrm>
            <a:off x="457200" y="1508760"/>
            <a:ext cx="2423160" cy="274320"/>
          </a:xfrm>
          <a:prstGeom prst="rect">
            <a:avLst/>
          </a:prstGeom>
          <a:noFill/>
        </p:spPr>
        <p:txBody>
          <a:bodyPr wrap="square" rtlCol="0" anchor="ctr"/>
          <a:lstStyle/>
          <a:p>
            <a:pPr marL="0" indent="0" algn="ctr">
              <a:buNone/>
            </a:pPr>
            <a:r>
              <a:rPr lang="en-US" sz="1100" b="1" dirty="0">
                <a:solidFill>
                  <a:srgbClr val="00C9A7"/>
                </a:solidFill>
              </a:rPr>
              <a:t>CloudWatch configuré</a:t>
            </a:r>
            <a:endParaRPr lang="en-US" sz="1100" dirty="0"/>
          </a:p>
        </p:txBody>
      </p:sp>
      <p:sp>
        <p:nvSpPr>
          <p:cNvPr id="7" name="Text 5"/>
          <p:cNvSpPr/>
          <p:nvPr/>
        </p:nvSpPr>
        <p:spPr>
          <a:xfrm>
            <a:off x="457200" y="1783080"/>
            <a:ext cx="2423160" cy="320040"/>
          </a:xfrm>
          <a:prstGeom prst="rect">
            <a:avLst/>
          </a:prstGeom>
          <a:noFill/>
        </p:spPr>
        <p:txBody>
          <a:bodyPr wrap="square" rtlCol="0" anchor="ctr"/>
          <a:lstStyle/>
          <a:p>
            <a:pPr marL="0" indent="0" algn="ctr">
              <a:buNone/>
            </a:pPr>
            <a:r>
              <a:rPr lang="en-US" sz="900" dirty="0">
                <a:solidFill>
                  <a:srgbClr val="A0B4C8"/>
                </a:solidFill>
              </a:rPr>
              <a:t>Interface de surveillance AWS opérationnelle</a:t>
            </a:r>
            <a:endParaRPr lang="en-US" sz="900" dirty="0"/>
          </a:p>
        </p:txBody>
      </p:sp>
      <p:sp>
        <p:nvSpPr>
          <p:cNvPr id="8" name="Shape 6"/>
          <p:cNvSpPr/>
          <p:nvPr/>
        </p:nvSpPr>
        <p:spPr>
          <a:xfrm>
            <a:off x="3200400" y="1051560"/>
            <a:ext cx="2606040" cy="1097280"/>
          </a:xfrm>
          <a:prstGeom prst="rect">
            <a:avLst/>
          </a:prstGeom>
          <a:solidFill>
            <a:srgbClr val="112240"/>
          </a:solidFill>
          <a:ln w="12700">
            <a:solidFill>
              <a:srgbClr val="0D6EFD"/>
            </a:solidFill>
            <a:prstDash val="solid"/>
          </a:ln>
        </p:spPr>
      </p:sp>
      <p:sp>
        <p:nvSpPr>
          <p:cNvPr id="9" name="Text 7"/>
          <p:cNvSpPr/>
          <p:nvPr/>
        </p:nvSpPr>
        <p:spPr>
          <a:xfrm>
            <a:off x="3200400" y="1097280"/>
            <a:ext cx="2606040" cy="411480"/>
          </a:xfrm>
          <a:prstGeom prst="rect">
            <a:avLst/>
          </a:prstGeom>
          <a:noFill/>
        </p:spPr>
        <p:txBody>
          <a:bodyPr wrap="square" rtlCol="0" anchor="ctr"/>
          <a:lstStyle/>
          <a:p>
            <a:pPr marL="0" indent="0" algn="ctr">
              <a:buNone/>
            </a:pPr>
            <a:r>
              <a:rPr lang="en-US" sz="2200" dirty="0">
                <a:solidFill>
                  <a:srgbClr val="000000"/>
                </a:solidFill>
              </a:rPr>
              <a:t>📋</a:t>
            </a:r>
            <a:endParaRPr lang="en-US" sz="2200" dirty="0"/>
          </a:p>
        </p:txBody>
      </p:sp>
      <p:sp>
        <p:nvSpPr>
          <p:cNvPr id="10" name="Text 8"/>
          <p:cNvSpPr/>
          <p:nvPr/>
        </p:nvSpPr>
        <p:spPr>
          <a:xfrm>
            <a:off x="3291840" y="1508760"/>
            <a:ext cx="2423160" cy="274320"/>
          </a:xfrm>
          <a:prstGeom prst="rect">
            <a:avLst/>
          </a:prstGeom>
          <a:noFill/>
        </p:spPr>
        <p:txBody>
          <a:bodyPr wrap="square" rtlCol="0" anchor="ctr"/>
          <a:lstStyle/>
          <a:p>
            <a:pPr marL="0" indent="0" algn="ctr">
              <a:buNone/>
            </a:pPr>
            <a:r>
              <a:rPr lang="en-US" sz="1100" b="1" dirty="0">
                <a:solidFill>
                  <a:srgbClr val="00C9A7"/>
                </a:solidFill>
              </a:rPr>
              <a:t>Journaux actifs</a:t>
            </a:r>
            <a:endParaRPr lang="en-US" sz="1100" dirty="0"/>
          </a:p>
        </p:txBody>
      </p:sp>
      <p:sp>
        <p:nvSpPr>
          <p:cNvPr id="11" name="Text 9"/>
          <p:cNvSpPr/>
          <p:nvPr/>
        </p:nvSpPr>
        <p:spPr>
          <a:xfrm>
            <a:off x="3291840" y="1783080"/>
            <a:ext cx="2423160" cy="320040"/>
          </a:xfrm>
          <a:prstGeom prst="rect">
            <a:avLst/>
          </a:prstGeom>
          <a:noFill/>
        </p:spPr>
        <p:txBody>
          <a:bodyPr wrap="square" rtlCol="0" anchor="ctr"/>
          <a:lstStyle/>
          <a:p>
            <a:pPr marL="0" indent="0" algn="ctr">
              <a:buNone/>
            </a:pPr>
            <a:r>
              <a:rPr lang="en-US" sz="900" dirty="0">
                <a:solidFill>
                  <a:srgbClr val="A0B4C8"/>
                </a:solidFill>
              </a:rPr>
              <a:t>Groupes et flux CloudTrail configurés</a:t>
            </a:r>
            <a:endParaRPr lang="en-US" sz="900" dirty="0"/>
          </a:p>
        </p:txBody>
      </p:sp>
      <p:sp>
        <p:nvSpPr>
          <p:cNvPr id="12" name="Shape 10"/>
          <p:cNvSpPr/>
          <p:nvPr/>
        </p:nvSpPr>
        <p:spPr>
          <a:xfrm>
            <a:off x="6035040" y="1051560"/>
            <a:ext cx="2606040" cy="1097280"/>
          </a:xfrm>
          <a:prstGeom prst="rect">
            <a:avLst/>
          </a:prstGeom>
          <a:solidFill>
            <a:srgbClr val="112240"/>
          </a:solidFill>
          <a:ln w="12700">
            <a:solidFill>
              <a:srgbClr val="0D6EFD"/>
            </a:solidFill>
            <a:prstDash val="solid"/>
          </a:ln>
        </p:spPr>
      </p:sp>
      <p:sp>
        <p:nvSpPr>
          <p:cNvPr id="13" name="Text 11"/>
          <p:cNvSpPr/>
          <p:nvPr/>
        </p:nvSpPr>
        <p:spPr>
          <a:xfrm>
            <a:off x="6035040" y="1097280"/>
            <a:ext cx="2606040" cy="411480"/>
          </a:xfrm>
          <a:prstGeom prst="rect">
            <a:avLst/>
          </a:prstGeom>
          <a:noFill/>
        </p:spPr>
        <p:txBody>
          <a:bodyPr wrap="square" rtlCol="0" anchor="ctr"/>
          <a:lstStyle/>
          <a:p>
            <a:pPr marL="0" indent="0" algn="ctr">
              <a:buNone/>
            </a:pPr>
            <a:r>
              <a:rPr lang="en-US" sz="2200" dirty="0">
                <a:solidFill>
                  <a:srgbClr val="000000"/>
                </a:solidFill>
              </a:rPr>
              <a:t>🔍</a:t>
            </a:r>
            <a:endParaRPr lang="en-US" sz="2200" dirty="0"/>
          </a:p>
        </p:txBody>
      </p:sp>
      <p:sp>
        <p:nvSpPr>
          <p:cNvPr id="14" name="Text 12"/>
          <p:cNvSpPr/>
          <p:nvPr/>
        </p:nvSpPr>
        <p:spPr>
          <a:xfrm>
            <a:off x="6126480" y="1508760"/>
            <a:ext cx="2423160" cy="274320"/>
          </a:xfrm>
          <a:prstGeom prst="rect">
            <a:avLst/>
          </a:prstGeom>
          <a:noFill/>
        </p:spPr>
        <p:txBody>
          <a:bodyPr wrap="square" rtlCol="0" anchor="ctr"/>
          <a:lstStyle/>
          <a:p>
            <a:pPr marL="0" indent="0" algn="ctr">
              <a:buNone/>
            </a:pPr>
            <a:r>
              <a:rPr lang="en-US" sz="1100" b="1" dirty="0">
                <a:solidFill>
                  <a:srgbClr val="00C9A7"/>
                </a:solidFill>
              </a:rPr>
              <a:t>Filtre de métriques</a:t>
            </a:r>
            <a:endParaRPr lang="en-US" sz="1100" dirty="0"/>
          </a:p>
        </p:txBody>
      </p:sp>
      <p:sp>
        <p:nvSpPr>
          <p:cNvPr id="15" name="Text 13"/>
          <p:cNvSpPr/>
          <p:nvPr/>
        </p:nvSpPr>
        <p:spPr>
          <a:xfrm>
            <a:off x="6126480" y="1783080"/>
            <a:ext cx="2423160" cy="320040"/>
          </a:xfrm>
          <a:prstGeom prst="rect">
            <a:avLst/>
          </a:prstGeom>
          <a:noFill/>
        </p:spPr>
        <p:txBody>
          <a:bodyPr wrap="square" rtlCol="0" anchor="ctr"/>
          <a:lstStyle/>
          <a:p>
            <a:pPr marL="0" indent="0" algn="ctr">
              <a:buNone/>
            </a:pPr>
            <a:r>
              <a:rPr lang="en-US" sz="900" dirty="0">
                <a:solidFill>
                  <a:srgbClr val="A0B4C8"/>
                </a:solidFill>
              </a:rPr>
              <a:t>AlerteModificationsCritiques créé et actif</a:t>
            </a:r>
            <a:endParaRPr lang="en-US" sz="900" dirty="0"/>
          </a:p>
        </p:txBody>
      </p:sp>
      <p:sp>
        <p:nvSpPr>
          <p:cNvPr id="16" name="Shape 14"/>
          <p:cNvSpPr/>
          <p:nvPr/>
        </p:nvSpPr>
        <p:spPr>
          <a:xfrm>
            <a:off x="365760" y="2286000"/>
            <a:ext cx="2606040" cy="1097280"/>
          </a:xfrm>
          <a:prstGeom prst="rect">
            <a:avLst/>
          </a:prstGeom>
          <a:solidFill>
            <a:srgbClr val="112240"/>
          </a:solidFill>
          <a:ln w="12700">
            <a:solidFill>
              <a:srgbClr val="0D6EFD"/>
            </a:solidFill>
            <a:prstDash val="solid"/>
          </a:ln>
        </p:spPr>
      </p:sp>
      <p:sp>
        <p:nvSpPr>
          <p:cNvPr id="17" name="Text 15"/>
          <p:cNvSpPr/>
          <p:nvPr/>
        </p:nvSpPr>
        <p:spPr>
          <a:xfrm>
            <a:off x="365760" y="2331720"/>
            <a:ext cx="2606040" cy="411480"/>
          </a:xfrm>
          <a:prstGeom prst="rect">
            <a:avLst/>
          </a:prstGeom>
          <a:noFill/>
        </p:spPr>
        <p:txBody>
          <a:bodyPr wrap="square"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457200" y="2743200"/>
            <a:ext cx="2423160" cy="274320"/>
          </a:xfrm>
          <a:prstGeom prst="rect">
            <a:avLst/>
          </a:prstGeom>
          <a:noFill/>
        </p:spPr>
        <p:txBody>
          <a:bodyPr wrap="square" rtlCol="0" anchor="ctr"/>
          <a:lstStyle/>
          <a:p>
            <a:pPr marL="0" indent="0" algn="ctr">
              <a:buNone/>
            </a:pPr>
            <a:r>
              <a:rPr lang="en-US" sz="1100" b="1" dirty="0">
                <a:solidFill>
                  <a:srgbClr val="00C9A7"/>
                </a:solidFill>
              </a:rPr>
              <a:t>Alarme déclenchée</a:t>
            </a:r>
            <a:endParaRPr lang="en-US" sz="1100" dirty="0"/>
          </a:p>
        </p:txBody>
      </p:sp>
      <p:sp>
        <p:nvSpPr>
          <p:cNvPr id="19" name="Text 17"/>
          <p:cNvSpPr/>
          <p:nvPr/>
        </p:nvSpPr>
        <p:spPr>
          <a:xfrm>
            <a:off x="457200" y="3017520"/>
            <a:ext cx="2423160" cy="320040"/>
          </a:xfrm>
          <a:prstGeom prst="rect">
            <a:avLst/>
          </a:prstGeom>
          <a:noFill/>
        </p:spPr>
        <p:txBody>
          <a:bodyPr wrap="square" rtlCol="0" anchor="ctr"/>
          <a:lstStyle/>
          <a:p>
            <a:pPr marL="0" indent="0" algn="ctr">
              <a:buNone/>
            </a:pPr>
            <a:r>
              <a:rPr lang="en-US" sz="900" dirty="0">
                <a:solidFill>
                  <a:srgbClr val="A0B4C8"/>
                </a:solidFill>
              </a:rPr>
              <a:t>Alerte-Modification-Ressource fonctionnelle</a:t>
            </a:r>
            <a:endParaRPr lang="en-US" sz="900" dirty="0"/>
          </a:p>
        </p:txBody>
      </p:sp>
      <p:sp>
        <p:nvSpPr>
          <p:cNvPr id="20" name="Shape 18"/>
          <p:cNvSpPr/>
          <p:nvPr/>
        </p:nvSpPr>
        <p:spPr>
          <a:xfrm>
            <a:off x="3200400" y="2286000"/>
            <a:ext cx="2606040" cy="1097280"/>
          </a:xfrm>
          <a:prstGeom prst="rect">
            <a:avLst/>
          </a:prstGeom>
          <a:solidFill>
            <a:srgbClr val="112240"/>
          </a:solidFill>
          <a:ln w="12700">
            <a:solidFill>
              <a:srgbClr val="0D6EFD"/>
            </a:solidFill>
            <a:prstDash val="solid"/>
          </a:ln>
        </p:spPr>
      </p:sp>
      <p:sp>
        <p:nvSpPr>
          <p:cNvPr id="21" name="Text 19"/>
          <p:cNvSpPr/>
          <p:nvPr/>
        </p:nvSpPr>
        <p:spPr>
          <a:xfrm>
            <a:off x="3200400" y="2331720"/>
            <a:ext cx="2606040" cy="411480"/>
          </a:xfrm>
          <a:prstGeom prst="rect">
            <a:avLst/>
          </a:prstGeom>
          <a:noFill/>
        </p:spPr>
        <p:txBody>
          <a:bodyPr wrap="square" rtlCol="0" anchor="ctr"/>
          <a:lstStyle/>
          <a:p>
            <a:pPr marL="0" indent="0" algn="ctr">
              <a:buNone/>
            </a:pPr>
            <a:r>
              <a:rPr lang="en-US" sz="2200" dirty="0">
                <a:solidFill>
                  <a:srgbClr val="000000"/>
                </a:solidFill>
              </a:rPr>
              <a:t>📧</a:t>
            </a:r>
            <a:endParaRPr lang="en-US" sz="2200" dirty="0"/>
          </a:p>
        </p:txBody>
      </p:sp>
      <p:sp>
        <p:nvSpPr>
          <p:cNvPr id="22" name="Text 20"/>
          <p:cNvSpPr/>
          <p:nvPr/>
        </p:nvSpPr>
        <p:spPr>
          <a:xfrm>
            <a:off x="3291840" y="2743200"/>
            <a:ext cx="2423160" cy="274320"/>
          </a:xfrm>
          <a:prstGeom prst="rect">
            <a:avLst/>
          </a:prstGeom>
          <a:noFill/>
        </p:spPr>
        <p:txBody>
          <a:bodyPr wrap="square" rtlCol="0" anchor="ctr"/>
          <a:lstStyle/>
          <a:p>
            <a:pPr marL="0" indent="0" algn="ctr">
              <a:buNone/>
            </a:pPr>
            <a:r>
              <a:rPr lang="en-US" sz="1100" b="1" dirty="0">
                <a:solidFill>
                  <a:srgbClr val="00C9A7"/>
                </a:solidFill>
              </a:rPr>
              <a:t>Notification email</a:t>
            </a:r>
            <a:endParaRPr lang="en-US" sz="1100" dirty="0"/>
          </a:p>
        </p:txBody>
      </p:sp>
      <p:sp>
        <p:nvSpPr>
          <p:cNvPr id="23" name="Text 21"/>
          <p:cNvSpPr/>
          <p:nvPr/>
        </p:nvSpPr>
        <p:spPr>
          <a:xfrm>
            <a:off x="3291840" y="3017520"/>
            <a:ext cx="2423160" cy="320040"/>
          </a:xfrm>
          <a:prstGeom prst="rect">
            <a:avLst/>
          </a:prstGeom>
          <a:noFill/>
        </p:spPr>
        <p:txBody>
          <a:bodyPr wrap="square" rtlCol="0" anchor="ctr"/>
          <a:lstStyle/>
          <a:p>
            <a:pPr marL="0" indent="0" algn="ctr">
              <a:buNone/>
            </a:pPr>
            <a:r>
              <a:rPr lang="en-US" sz="900" dirty="0">
                <a:solidFill>
                  <a:srgbClr val="A0B4C8"/>
                </a:solidFill>
              </a:rPr>
              <a:t>SNS configuré vers hayefall16@gmail.com</a:t>
            </a:r>
            <a:endParaRPr lang="en-US" sz="900" dirty="0"/>
          </a:p>
        </p:txBody>
      </p:sp>
      <p:sp>
        <p:nvSpPr>
          <p:cNvPr id="24" name="Shape 22"/>
          <p:cNvSpPr/>
          <p:nvPr/>
        </p:nvSpPr>
        <p:spPr>
          <a:xfrm>
            <a:off x="6035040" y="2286000"/>
            <a:ext cx="2606040" cy="1097280"/>
          </a:xfrm>
          <a:prstGeom prst="rect">
            <a:avLst/>
          </a:prstGeom>
          <a:solidFill>
            <a:srgbClr val="112240"/>
          </a:solidFill>
          <a:ln w="12700">
            <a:solidFill>
              <a:srgbClr val="0D6EFD"/>
            </a:solidFill>
            <a:prstDash val="solid"/>
          </a:ln>
        </p:spPr>
      </p:sp>
      <p:sp>
        <p:nvSpPr>
          <p:cNvPr id="25" name="Text 23"/>
          <p:cNvSpPr/>
          <p:nvPr/>
        </p:nvSpPr>
        <p:spPr>
          <a:xfrm>
            <a:off x="6035040" y="2331720"/>
            <a:ext cx="2606040" cy="411480"/>
          </a:xfrm>
          <a:prstGeom prst="rect">
            <a:avLst/>
          </a:prstGeom>
          <a:noFill/>
        </p:spPr>
        <p:txBody>
          <a:bodyPr wrap="square" rtlCol="0" anchor="ctr"/>
          <a:lstStyle/>
          <a:p>
            <a:pPr marL="0" indent="0" algn="ctr">
              <a:buNone/>
            </a:pPr>
            <a:r>
              <a:rPr lang="en-US" sz="2200" dirty="0">
                <a:solidFill>
                  <a:srgbClr val="000000"/>
                </a:solidFill>
              </a:rPr>
              <a:t>🔒</a:t>
            </a:r>
            <a:endParaRPr lang="en-US" sz="2200" dirty="0"/>
          </a:p>
        </p:txBody>
      </p:sp>
      <p:sp>
        <p:nvSpPr>
          <p:cNvPr id="26" name="Text 24"/>
          <p:cNvSpPr/>
          <p:nvPr/>
        </p:nvSpPr>
        <p:spPr>
          <a:xfrm>
            <a:off x="6126480" y="2743200"/>
            <a:ext cx="2423160" cy="274320"/>
          </a:xfrm>
          <a:prstGeom prst="rect">
            <a:avLst/>
          </a:prstGeom>
          <a:noFill/>
        </p:spPr>
        <p:txBody>
          <a:bodyPr wrap="square" rtlCol="0" anchor="ctr"/>
          <a:lstStyle/>
          <a:p>
            <a:pPr marL="0" indent="0" algn="ctr">
              <a:buNone/>
            </a:pPr>
            <a:r>
              <a:rPr lang="en-US" sz="1100" b="1" dirty="0">
                <a:solidFill>
                  <a:srgbClr val="00C9A7"/>
                </a:solidFill>
              </a:rPr>
              <a:t>VPC surveillé</a:t>
            </a:r>
            <a:endParaRPr lang="en-US" sz="1100" dirty="0"/>
          </a:p>
        </p:txBody>
      </p:sp>
      <p:sp>
        <p:nvSpPr>
          <p:cNvPr id="27" name="Text 25"/>
          <p:cNvSpPr/>
          <p:nvPr/>
        </p:nvSpPr>
        <p:spPr>
          <a:xfrm>
            <a:off x="6126480" y="3017520"/>
            <a:ext cx="2423160" cy="320040"/>
          </a:xfrm>
          <a:prstGeom prst="rect">
            <a:avLst/>
          </a:prstGeom>
          <a:noFill/>
        </p:spPr>
        <p:txBody>
          <a:bodyPr wrap="square" rtlCol="0" anchor="ctr"/>
          <a:lstStyle/>
          <a:p>
            <a:pPr marL="0" indent="0" algn="ctr">
              <a:buNone/>
            </a:pPr>
            <a:r>
              <a:rPr lang="en-US" sz="900" dirty="0">
                <a:solidFill>
                  <a:srgbClr val="A0B4C8"/>
                </a:solidFill>
              </a:rPr>
              <a:t>Groupe de sécurité Test-Alerte-TPE créé</a:t>
            </a:r>
            <a:endParaRPr lang="en-US" sz="900" dirty="0"/>
          </a:p>
        </p:txBody>
      </p:sp>
      <p:sp>
        <p:nvSpPr>
          <p:cNvPr id="28" name="Shape 26"/>
          <p:cNvSpPr/>
          <p:nvPr/>
        </p:nvSpPr>
        <p:spPr>
          <a:xfrm>
            <a:off x="365760" y="3657600"/>
            <a:ext cx="8412480" cy="777240"/>
          </a:xfrm>
          <a:prstGeom prst="rect">
            <a:avLst/>
          </a:prstGeom>
          <a:solidFill>
            <a:srgbClr val="112240"/>
          </a:solidFill>
          <a:ln w="12700">
            <a:solidFill>
              <a:srgbClr val="00C9A7"/>
            </a:solidFill>
            <a:prstDash val="solid"/>
          </a:ln>
        </p:spPr>
      </p:sp>
      <p:sp>
        <p:nvSpPr>
          <p:cNvPr id="29" name="Text 27"/>
          <p:cNvSpPr/>
          <p:nvPr/>
        </p:nvSpPr>
        <p:spPr>
          <a:xfrm>
            <a:off x="548640" y="3703320"/>
            <a:ext cx="8046720" cy="685800"/>
          </a:xfrm>
          <a:prstGeom prst="rect">
            <a:avLst/>
          </a:prstGeom>
          <a:noFill/>
        </p:spPr>
        <p:txBody>
          <a:bodyPr wrap="square" rtlCol="0" anchor="ctr"/>
          <a:lstStyle/>
          <a:p>
            <a:pPr marL="0" indent="0" algn="ctr">
              <a:buNone/>
            </a:pPr>
            <a:r>
              <a:rPr lang="en-US" sz="1050" dirty="0">
                <a:solidFill>
                  <a:srgbClr val="FFFFFF"/>
                </a:solidFill>
              </a:rPr>
              <a:t>Ce projet a permis de mettre en place un système complet de surveillance des activités AWS avec CloudWatch. Grâce aux journaux, filtres de métriques, alarmes et notifications, il est désormais possible de détecter et d'alerter automatiquement sur toute modification critique des ressources AWS.</a:t>
            </a:r>
            <a:endParaRPr lang="en-US" sz="1050" dirty="0"/>
          </a:p>
        </p:txBody>
      </p:sp>
      <p:sp>
        <p:nvSpPr>
          <p:cNvPr id="30" name="Text 28"/>
          <p:cNvSpPr/>
          <p:nvPr/>
        </p:nvSpPr>
        <p:spPr>
          <a:xfrm>
            <a:off x="457200" y="4526280"/>
            <a:ext cx="8229600" cy="365760"/>
          </a:xfrm>
          <a:prstGeom prst="rect">
            <a:avLst/>
          </a:prstGeom>
          <a:noFill/>
        </p:spPr>
        <p:txBody>
          <a:bodyPr wrap="square" rtlCol="0" anchor="ctr"/>
          <a:lstStyle/>
          <a:p>
            <a:pPr marL="0" indent="0" algn="ctr">
              <a:buNone/>
            </a:pPr>
            <a:r>
              <a:rPr lang="en-US" sz="1600" b="1" dirty="0">
                <a:solidFill>
                  <a:srgbClr val="00C9A7"/>
                </a:solidFill>
                <a:latin typeface="Calibri" panose="020F0502020204030204" pitchFamily="34" charset="0"/>
                <a:ea typeface="Calibri" panose="020F0502020204030204" pitchFamily="34" charset="-122"/>
                <a:cs typeface="Calibri" panose="020F0502020204030204" pitchFamily="34" charset="-120"/>
              </a:rPr>
              <a:t>Merci pour votre attention !</a:t>
            </a:r>
            <a:endParaRPr lang="en-US" sz="1600" dirty="0"/>
          </a:p>
        </p:txBody>
      </p:sp>
      <p:sp>
        <p:nvSpPr>
          <p:cNvPr id="31" name="Shape 29"/>
          <p:cNvSpPr/>
          <p:nvPr/>
        </p:nvSpPr>
        <p:spPr>
          <a:xfrm>
            <a:off x="0" y="4983480"/>
            <a:ext cx="9144000" cy="160020"/>
          </a:xfrm>
          <a:prstGeom prst="rect">
            <a:avLst/>
          </a:prstGeom>
          <a:solidFill>
            <a:srgbClr val="112240"/>
          </a:solidFill>
          <a:ln w="12700">
            <a:solidFill>
              <a:srgbClr val="112240"/>
            </a:solidFill>
            <a:prstDash val="solid"/>
          </a:ln>
        </p:spPr>
      </p:sp>
      <p:sp>
        <p:nvSpPr>
          <p:cNvPr id="32" name="Text 30"/>
          <p:cNvSpPr/>
          <p:nvPr/>
        </p:nvSpPr>
        <p:spPr>
          <a:xfrm>
            <a:off x="0" y="4983480"/>
            <a:ext cx="9144000" cy="160020"/>
          </a:xfrm>
          <a:prstGeom prst="rect">
            <a:avLst/>
          </a:prstGeom>
          <a:noFill/>
        </p:spPr>
        <p:txBody>
          <a:bodyPr wrap="square" rtlCol="0" anchor="ctr"/>
          <a:lstStyle/>
          <a:p>
            <a:pPr marL="0" indent="0" algn="ctr">
              <a:buNone/>
            </a:pPr>
            <a:r>
              <a:rPr lang="en-US" sz="900" dirty="0">
                <a:solidFill>
                  <a:srgbClr val="00C9A7"/>
                </a:solidFill>
              </a:rPr>
              <a:t>Haye Fall  |  LICC2  |  BEM.ECH  |  Prof : Mr Cissé</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4709</Words>
  <Application>WPS Presentation</Application>
  <PresentationFormat>On-screen Show (16:9)</PresentationFormat>
  <Paragraphs>286</Paragraphs>
  <Slides>9</Slides>
  <Notes>9</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9</vt:i4>
      </vt:variant>
    </vt:vector>
  </HeadingPairs>
  <TitlesOfParts>
    <vt:vector size="18" baseType="lpstr">
      <vt:lpstr>Arial</vt:lpstr>
      <vt:lpstr>SimSun</vt:lpstr>
      <vt:lpstr>Wingdings</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Surveillance des activités AWS</dc:title>
  <dc:creator>Haye Fall</dc:creator>
  <dc:subject>PptxGenJS Presentation</dc:subject>
  <cp:lastModifiedBy>hp</cp:lastModifiedBy>
  <cp:revision>2</cp:revision>
  <dcterms:created xsi:type="dcterms:W3CDTF">2026-03-18T12:28:00Z</dcterms:created>
  <dcterms:modified xsi:type="dcterms:W3CDTF">2026-03-30T17:01:07Z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1E1563F9CB13495A9D7DCA5961B6FFB2_13</vt:lpwstr>
  </property>
  <property fmtid="{D5CDD505-2E9C-101B-9397-08002B2CF9AE}" pid="3" name="KSOProductBuildVer">
    <vt:lpwstr>1036-12.9.0.21549</vt:lpwstr>
  </property>
</Properties>
</file>